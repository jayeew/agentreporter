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0bcefb020643d2" /><Relationship Type="http://schemas.openxmlformats.org/officeDocument/2006/relationships/extended-properties" Target="/docProps/app.xml" Id="R3782fb373f65411e" /><Relationship Type="http://schemas.openxmlformats.org/officeDocument/2006/relationships/officeDocument" Target="/ppt/presentation.xml" Id="R67138157a0a14d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99e4f514ef45b7"/>
  </p:sldMasterIdLst>
  <p:notesMasterIdLst>
    <p:notesMasterId xmlns:r="http://schemas.openxmlformats.org/officeDocument/2006/relationships" r:id="R67807cc5b19543c5"/>
  </p:notesMasterIdLst>
  <p:sldIdLst>
    <p:sldId xmlns:r="http://schemas.openxmlformats.org/officeDocument/2006/relationships" id="256" r:id="R376493dd5e234ce7"/>
    <p:sldId xmlns:r="http://schemas.openxmlformats.org/officeDocument/2006/relationships" id="257" r:id="Rb1eca86278ae4b92"/>
    <p:sldId xmlns:r="http://schemas.openxmlformats.org/officeDocument/2006/relationships" id="258" r:id="Ree977829bcd54a9c"/>
    <p:sldId xmlns:r="http://schemas.openxmlformats.org/officeDocument/2006/relationships" id="259" r:id="R0451e3b946e64d90"/>
    <p:sldId xmlns:r="http://schemas.openxmlformats.org/officeDocument/2006/relationships" id="260" r:id="Re1ba06adf1d9430f"/>
    <p:sldId xmlns:r="http://schemas.openxmlformats.org/officeDocument/2006/relationships" id="261" r:id="R239428da7ca94c15"/>
    <p:sldId xmlns:r="http://schemas.openxmlformats.org/officeDocument/2006/relationships" id="262" r:id="R1ca8557c245942bb"/>
    <p:sldId xmlns:r="http://schemas.openxmlformats.org/officeDocument/2006/relationships" id="263" r:id="Re6c9c3ec10da46b7"/>
    <p:sldId xmlns:r="http://schemas.openxmlformats.org/officeDocument/2006/relationships" id="264" r:id="R3f5aeb7d5fe54f0f"/>
    <p:sldId xmlns:r="http://schemas.openxmlformats.org/officeDocument/2006/relationships" id="265" r:id="R2facf666557c4459"/>
    <p:sldId xmlns:r="http://schemas.openxmlformats.org/officeDocument/2006/relationships" id="266" r:id="R0bf8fc12502c487a"/>
    <p:sldId xmlns:r="http://schemas.openxmlformats.org/officeDocument/2006/relationships" id="267" r:id="Rf5bd97ff2947470c"/>
    <p:sldId xmlns:r="http://schemas.openxmlformats.org/officeDocument/2006/relationships" id="268" r:id="Rd992d7c026284bce"/>
    <p:sldId xmlns:r="http://schemas.openxmlformats.org/officeDocument/2006/relationships" id="269" r:id="R9d1acc7ce7294029"/>
    <p:sldId xmlns:r="http://schemas.openxmlformats.org/officeDocument/2006/relationships" id="270" r:id="R53371e0f335f4007"/>
    <p:sldId xmlns:r="http://schemas.openxmlformats.org/officeDocument/2006/relationships" id="271" r:id="R7ce0f7e885f0481f"/>
    <p:sldId xmlns:r="http://schemas.openxmlformats.org/officeDocument/2006/relationships" id="272" r:id="R7600fe3717ed4f8d"/>
    <p:sldId xmlns:r="http://schemas.openxmlformats.org/officeDocument/2006/relationships" id="273" r:id="Re4bee27a5830483d"/>
    <p:sldId xmlns:r="http://schemas.openxmlformats.org/officeDocument/2006/relationships" id="274" r:id="R513f73c69c9749d0"/>
    <p:sldId xmlns:r="http://schemas.openxmlformats.org/officeDocument/2006/relationships" id="275" r:id="R2f313504e879478c"/>
    <p:sldId xmlns:r="http://schemas.openxmlformats.org/officeDocument/2006/relationships" id="276" r:id="Rc9d1d406a1b94bb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9340accee149ea" /><Relationship Type="http://schemas.openxmlformats.org/officeDocument/2006/relationships/slideMaster" Target="/ppt/slideMasters/slideMaster1.xml" Id="R7c99e4f514ef45b7" /><Relationship Type="http://schemas.openxmlformats.org/officeDocument/2006/relationships/notesMaster" Target="/ppt/notesMasters/notesMaster1.xml" Id="R67807cc5b19543c5" /><Relationship Type="http://schemas.openxmlformats.org/officeDocument/2006/relationships/presProps" Target="/ppt/presProps.xml" Id="R6e5b962d38e24a80" /><Relationship Type="http://schemas.openxmlformats.org/officeDocument/2006/relationships/tableStyles" Target="/ppt/tableStyles.xml" Id="R84328978fb8f4390" /><Relationship Type="http://schemas.openxmlformats.org/officeDocument/2006/relationships/slide" Target="/ppt/slides/slide1.xml" Id="R376493dd5e234ce7" /><Relationship Type="http://schemas.openxmlformats.org/officeDocument/2006/relationships/slide" Target="/ppt/slides/slide2.xml" Id="Rb1eca86278ae4b92" /><Relationship Type="http://schemas.openxmlformats.org/officeDocument/2006/relationships/slide" Target="/ppt/slides/slide3.xml" Id="Ree977829bcd54a9c" /><Relationship Type="http://schemas.openxmlformats.org/officeDocument/2006/relationships/slide" Target="/ppt/slides/slide4.xml" Id="R0451e3b946e64d90" /><Relationship Type="http://schemas.openxmlformats.org/officeDocument/2006/relationships/slide" Target="/ppt/slides/slide5.xml" Id="Re1ba06adf1d9430f" /><Relationship Type="http://schemas.openxmlformats.org/officeDocument/2006/relationships/slide" Target="/ppt/slides/slide6.xml" Id="R239428da7ca94c15" /><Relationship Type="http://schemas.openxmlformats.org/officeDocument/2006/relationships/slide" Target="/ppt/slides/slide7.xml" Id="R1ca8557c245942bb" /><Relationship Type="http://schemas.openxmlformats.org/officeDocument/2006/relationships/slide" Target="/ppt/slides/slide8.xml" Id="Re6c9c3ec10da46b7" /><Relationship Type="http://schemas.openxmlformats.org/officeDocument/2006/relationships/slide" Target="/ppt/slides/slide9.xml" Id="R3f5aeb7d5fe54f0f" /><Relationship Type="http://schemas.openxmlformats.org/officeDocument/2006/relationships/slide" Target="/ppt/slides/slide10.xml" Id="R2facf666557c4459" /><Relationship Type="http://schemas.openxmlformats.org/officeDocument/2006/relationships/slide" Target="/ppt/slides/slide11.xml" Id="R0bf8fc12502c487a" /><Relationship Type="http://schemas.openxmlformats.org/officeDocument/2006/relationships/slide" Target="/ppt/slides/slide12.xml" Id="Rf5bd97ff2947470c" /><Relationship Type="http://schemas.openxmlformats.org/officeDocument/2006/relationships/slide" Target="/ppt/slides/slide13.xml" Id="Rd992d7c026284bce" /><Relationship Type="http://schemas.openxmlformats.org/officeDocument/2006/relationships/slide" Target="/ppt/slides/slide14.xml" Id="R9d1acc7ce7294029" /><Relationship Type="http://schemas.openxmlformats.org/officeDocument/2006/relationships/slide" Target="/ppt/slides/slide15.xml" Id="R53371e0f335f4007" /><Relationship Type="http://schemas.openxmlformats.org/officeDocument/2006/relationships/slide" Target="/ppt/slides/slide16.xml" Id="R7ce0f7e885f0481f" /><Relationship Type="http://schemas.openxmlformats.org/officeDocument/2006/relationships/slide" Target="/ppt/slides/slide17.xml" Id="R7600fe3717ed4f8d" /><Relationship Type="http://schemas.openxmlformats.org/officeDocument/2006/relationships/slide" Target="/ppt/slides/slide18.xml" Id="Re4bee27a5830483d" /><Relationship Type="http://schemas.openxmlformats.org/officeDocument/2006/relationships/slide" Target="/ppt/slides/slide19.xml" Id="R513f73c69c9749d0" /><Relationship Type="http://schemas.openxmlformats.org/officeDocument/2006/relationships/slide" Target="/ppt/slides/slide20.xml" Id="R2f313504e879478c" /><Relationship Type="http://schemas.openxmlformats.org/officeDocument/2006/relationships/slide" Target="/ppt/slides/slide21.xml" Id="Rc9d1d406a1b94b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f0fd20da3143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cademic Oncology Agent">
      <a:dk1>
        <a:srgbClr val="000000"/>
      </a:dk1>
      <a:lt1>
        <a:srgbClr val="FFFFFF"/>
      </a:lt1>
      <a:dk2>
        <a:srgbClr val="0B1F3A"/>
      </a:dk2>
      <a:lt2>
        <a:srgbClr val="E5E7EB"/>
      </a:lt2>
      <a:accent1>
        <a:srgbClr val="0B1F3A"/>
      </a:accent1>
      <a:accent2>
        <a:srgbClr val="0E8F8A"/>
      </a:accent2>
      <a:accent3>
        <a:srgbClr val="B7791F"/>
      </a:accent3>
      <a:accent4>
        <a:srgbClr val="A33A3A"/>
      </a:accent4>
      <a:accent5>
        <a:srgbClr val="5B5F97"/>
      </a:accent5>
      <a:accent6>
        <a:srgbClr val="2F855A"/>
      </a:accent6>
      <a:hlink>
        <a:srgbClr val="0E8F8A"/>
      </a:hlink>
      <a:folHlink>
        <a:srgbClr val="5B5F9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cademic Oncology Agen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bd7f18df2c4245" /><Relationship Type="http://schemas.openxmlformats.org/officeDocument/2006/relationships/notesMaster" Target="/ppt/notesMasters/notesMaster1.xml" Id="R3f39c76b4c044b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c36c0f0cd949db" /><Relationship Type="http://schemas.openxmlformats.org/officeDocument/2006/relationships/notesMaster" Target="/ppt/notesMasters/notesMaster1.xml" Id="Red5ff2d69cef40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a26c82ca914e72" /><Relationship Type="http://schemas.openxmlformats.org/officeDocument/2006/relationships/notesMaster" Target="/ppt/notesMasters/notesMaster1.xml" Id="R3b5badd04ea041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93cc6d7fa548bc" /><Relationship Type="http://schemas.openxmlformats.org/officeDocument/2006/relationships/notesMaster" Target="/ppt/notesMasters/notesMaster1.xml" Id="R730f8d3a2b0340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31afa09c6f4cb4" /><Relationship Type="http://schemas.openxmlformats.org/officeDocument/2006/relationships/notesMaster" Target="/ppt/notesMasters/notesMaster1.xml" Id="Re5369a657d9243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071f3e837d4d7b" /><Relationship Type="http://schemas.openxmlformats.org/officeDocument/2006/relationships/notesMaster" Target="/ppt/notesMasters/notesMaster1.xml" Id="R77753a7d53e248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d272611d6e468f" /><Relationship Type="http://schemas.openxmlformats.org/officeDocument/2006/relationships/notesMaster" Target="/ppt/notesMasters/notesMaster1.xml" Id="R47d70e52489d4c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c827dd75494c8b" /><Relationship Type="http://schemas.openxmlformats.org/officeDocument/2006/relationships/notesMaster" Target="/ppt/notesMasters/notesMaster1.xml" Id="Rcea85ed9050149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18673d06ef4ba7" /><Relationship Type="http://schemas.openxmlformats.org/officeDocument/2006/relationships/notesMaster" Target="/ppt/notesMasters/notesMaster1.xml" Id="R7a2173f1b26c41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28e9119f204242" /><Relationship Type="http://schemas.openxmlformats.org/officeDocument/2006/relationships/notesMaster" Target="/ppt/notesMasters/notesMaster1.xml" Id="Rbe9a50b391e94f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31eb12543c4491" /><Relationship Type="http://schemas.openxmlformats.org/officeDocument/2006/relationships/notesMaster" Target="/ppt/notesMasters/notesMaster1.xml" Id="Rcf7da727591940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3c515e99d74f21" /><Relationship Type="http://schemas.openxmlformats.org/officeDocument/2006/relationships/notesMaster" Target="/ppt/notesMasters/notesMaster1.xml" Id="R920c2204b38e45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fe7de3339a144cb" /><Relationship Type="http://schemas.openxmlformats.org/officeDocument/2006/relationships/notesMaster" Target="/ppt/notesMasters/notesMaster1.xml" Id="R04f824dbda0947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425e2687f24c54" /><Relationship Type="http://schemas.openxmlformats.org/officeDocument/2006/relationships/notesMaster" Target="/ppt/notesMasters/notesMaster1.xml" Id="Re6ef9ab7f8fb41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be8d90b221a4215" /><Relationship Type="http://schemas.openxmlformats.org/officeDocument/2006/relationships/notesMaster" Target="/ppt/notesMasters/notesMaster1.xml" Id="R1e019516316d4b9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f0d16d988854d42" /><Relationship Type="http://schemas.openxmlformats.org/officeDocument/2006/relationships/notesMaster" Target="/ppt/notesMasters/notesMaster1.xml" Id="Rad2105b2bfb345e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6d68cefd4144a93" /><Relationship Type="http://schemas.openxmlformats.org/officeDocument/2006/relationships/notesMaster" Target="/ppt/notesMasters/notesMaster1.xml" Id="Rc7f50db7e769449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a61d75f0e464c81" /><Relationship Type="http://schemas.openxmlformats.org/officeDocument/2006/relationships/notesMaster" Target="/ppt/notesMasters/notesMaster1.xml" Id="Rfe263b3c9243428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57c4e17ade44ca6" /><Relationship Type="http://schemas.openxmlformats.org/officeDocument/2006/relationships/notesMaster" Target="/ppt/notesMasters/notesMaster1.xml" Id="R30975f845269482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cd3a6e1e0e149c0" /><Relationship Type="http://schemas.openxmlformats.org/officeDocument/2006/relationships/notesMaster" Target="/ppt/notesMasters/notesMaster1.xml" Id="R8f6c1f30d59c420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4aea79b93274666" /><Relationship Type="http://schemas.openxmlformats.org/officeDocument/2006/relationships/notesMaster" Target="/ppt/notesMasters/notesMaster1.xml" Id="R30b6661443454a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预计时间：40秒。</a:t>
            </a:r>
          </a:p>
          <a:p xmlns:a="http://schemas.openxmlformats.org/drawingml/2006/main">
            <a:r>
              <a:t>开场建议：先说明这不是泛泛介绍 ChatGPT，也不是宣称 AI 替代医生，而是讨论 Agent 如何帮助肿瘤学把指南、论文、病历、分子检测和临床试验信息组织成可审阅的证据工作流。</a:t>
            </a:r>
          </a:p>
          <a:p xmlns:a="http://schemas.openxmlformats.org/drawingml/2006/main">
            <a:r>
              <a:t>强调本报告的定位：作为计算机背景汇报者，重点讲清 Agent 技术为何适合肿瘤学信息整合，以及它距离临床常规应用还有哪些验证与监管问题。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预计时间：60秒。</a:t>
            </a:r>
          </a:p>
          <a:p xmlns:a="http://schemas.openxmlformats.org/drawingml/2006/main">
            <a:r>
              <a:t>讲述重点：肿瘤学决策常常不是单点分类问题，而是把患者状态、病理分型、分子标志物、既往治疗、指南推荐、药物可及性和临床试验放在一起权衡。</a:t>
            </a:r>
          </a:p>
          <a:p xmlns:a="http://schemas.openxmlformats.org/drawingml/2006/main">
            <a:r>
              <a:t>Agent 相比普通聊天机器人，价值在于能把这些任务拆解成多个步骤，并把证据链保留下来供医生审阅。</a:t>
            </a:r>
          </a:p>
          <a:p xmlns:a="http://schemas.openxmlformats.org/drawingml/2006/main">
            <a:r>
              <a:t>谨慎表述：不要说 Agent 能直接决定治疗方案；应说它可以帮助会前准备、证据检索、信息整理和讨论清单生成。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预计时间：60秒。</a:t>
            </a:r>
          </a:p>
          <a:p xmlns:a="http://schemas.openxmlformats.org/drawingml/2006/main">
            <a:r>
              <a:t>讲述重点：LLM 是语言模型，本质上是在上下文中生成文本；Agent 则是在 LLM 外面加上任务规划、工具调用、检索、工作流控制和结构化输出。</a:t>
            </a:r>
          </a:p>
          <a:p xmlns:a="http://schemas.openxmlformats.org/drawingml/2006/main">
            <a:r>
              <a:t>医学听众最关心的是：结果是否可核验、是否有来源、是否能明确哪些地方需要医生判断。因此我会把 Agent 定义成“证据整理流程”，而不是“自动诊疗系统”。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预计时间：75秒。</a:t>
            </a:r>
          </a:p>
          <a:p xmlns:a="http://schemas.openxmlformats.org/drawingml/2006/main">
            <a:r>
              <a:t>讲述重点：RAG 解决知识来源和更新问题；工具调用解决外部数据库与规则计算问题；Workflow 解决临床流程可控性；记忆和 EHR 连接解决患者纵向信息；多智能体解决多学科信息分工。</a:t>
            </a:r>
          </a:p>
          <a:p xmlns:a="http://schemas.openxmlformats.org/drawingml/2006/main">
            <a:r>
              <a:t>医学谨慎点：RAG 不等于绝对正确。检索到的证据可能过时、片段化或不适用；所以输出必须带引用、证据等级、适用条件和人工复核点。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预计时间：70秒。</a:t>
            </a:r>
          </a:p>
          <a:p xmlns:a="http://schemas.openxmlformats.org/drawingml/2006/main">
            <a:r>
              <a:t>讲述重点：不是所有 Agent 场景都适合在学术会议现场演示。多模态诊断、自动治疗规划更容易引发安全和证据争议；证据检索、文献追踪、临床试验初筛和 MDT 会前摘要更稳妥。</a:t>
            </a:r>
          </a:p>
          <a:p xmlns:a="http://schemas.openxmlformats.org/drawingml/2006/main">
            <a:r>
              <a:t>推荐把现场 Demo 定位在“MDT 证据整理助手”，它能体现肿瘤学价值，又不会越过诊疗决策边界。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预计时间：90秒。</a:t>
            </a:r>
          </a:p>
          <a:p xmlns:a="http://schemas.openxmlformats.org/drawingml/2006/main">
            <a:r>
              <a:t>讲述重点：这一页用来快速建立证据基础，不逐篇展开。早期研究显示裸 LLM 对精准肿瘤治疗推荐的可靠性不足；RAG 和工具调用能改善事实性、完整性和效率；试验匹配是最有实用价值的方向之一。</a:t>
            </a:r>
          </a:p>
          <a:p xmlns:a="http://schemas.openxmlformats.org/drawingml/2006/main">
            <a:r>
              <a:t>需要强调：系统综述显示平均总体准确率约 76.2%、诊断准确率更低，且多数研究缺少安全、伤害、清晰度等维度评价。因此现阶段更适合 evidence brief、pre-screening、会前准备，而不是直接治疗决策。</a:t>
            </a:r>
          </a:p>
          <a:p xmlns:a="http://schemas.openxmlformats.org/drawingml/2006/main">
            <a:r>
              <a:t>扩展论文表：Benary 2023 JAMA Network Open；Zakka 2024 NEJM AI Almanac；Ferber 2024 NEJM AI oncology guidelines；TrialGPT 2024/NCI；Nature Cancer 2025 autonomous agent；Bertolo 2025 RCC MDT；Xu 2024 Scientific Reports RAG breast nursing；Hao 2025 npj Digital Medicine；TrialMatchAI 2026 Nature Communications；Mathes 2026 npj Precision Oncology responsible AI。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预计时间：60秒。</a:t>
            </a:r>
          </a:p>
          <a:p xmlns:a="http://schemas.openxmlformats.org/drawingml/2006/main">
            <a:r>
              <a:t>讲述重点：指南检索和证据问答是 Agent 在肿瘤学最适合先落地的方向。RAG 的价值是让回答绑定到最新、可追踪的资料，而不是依赖模型内部记忆。</a:t>
            </a:r>
          </a:p>
          <a:p xmlns:a="http://schemas.openxmlformats.org/drawingml/2006/main">
            <a:r>
              <a:t>适合放在 PPT 上的是流程和风险，不适合把某个治疗结论写得过度肯定。医学信息必须用“可考虑、需结合指南/适应证/患者情况、供讨论”这类谨慎表达。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预计时间：75秒。</a:t>
            </a:r>
          </a:p>
          <a:p xmlns:a="http://schemas.openxmlformats.org/drawingml/2006/main">
            <a:r>
              <a:t>讲述重点：MDT 场景最容易体现 Agent 的价值，因为它本来就依赖多学科信息聚合。Agent 最合适的位置是会前准备和会后记录，而不是在会议中直接替代专家投票。</a:t>
            </a:r>
          </a:p>
          <a:p xmlns:a="http://schemas.openxmlformats.org/drawingml/2006/main">
            <a:r>
              <a:t>研究解释：RCC 试点的一致率提示有潜力，但仍是单中心、回顾性、特定癌种；Nature Cancer 研究提示工具增强 Agent 可能显著优于裸 LLM，但样本量仍有限，需要外部验证。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预计时间：75秒。</a:t>
            </a:r>
          </a:p>
          <a:p xmlns:a="http://schemas.openxmlformats.org/drawingml/2006/main">
            <a:r>
              <a:t>讲述重点：临床试验匹配不是让 AI 决定治疗，而是减少医生和研究护士在大量试验条目中人工筛查的时间。</a:t>
            </a:r>
          </a:p>
          <a:p xmlns:a="http://schemas.openxmlformats.org/drawingml/2006/main">
            <a:r>
              <a:t>技术上，Dify 演示可以模拟这个流程；真实系统则需要接入 ClinicalTrials.gov 或国内注册平台、院内病历结构化字段，并且由研究团队做最后核验。</a:t>
            </a:r>
          </a:p>
          <a:p xmlns:a="http://schemas.openxmlformats.org/drawingml/2006/main">
            <a:r>
              <a:t>谨慎表述：‘可能匹配’和‘排除原因’比‘推荐入组’更合适。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预计时间：70秒。</a:t>
            </a:r>
          </a:p>
          <a:p xmlns:a="http://schemas.openxmlformats.org/drawingml/2006/main">
            <a:r>
              <a:t>讲述重点：精准肿瘤学是高价值方向，但也是最容易被过度承诺的方向。很多变异不等于可用药物，更不等于患者适合用药。</a:t>
            </a:r>
          </a:p>
          <a:p xmlns:a="http://schemas.openxmlformats.org/drawingml/2006/main">
            <a:r>
              <a:t>对计算机背景听众自己也要记住：variant annotation、actionability、level of evidence 是不同层级。Agent 应该帮助解释证据等级、列出来源和不确定性，而不是直接给出治疗处方。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预计时间：65秒。</a:t>
            </a:r>
          </a:p>
          <a:p xmlns:a="http://schemas.openxmlformats.org/drawingml/2006/main">
            <a:r>
              <a:t>讲述重点：多模态 Agent 是最有想象力的方向，但不能在汇报中说它已经成熟。影像和病理模型可能各自在测试集上表现不错，但整合到一个可审计、可监管、可复核的临床流程，是另一个难度等级。</a:t>
            </a:r>
          </a:p>
          <a:p xmlns:a="http://schemas.openxmlformats.org/drawingml/2006/main">
            <a:r>
              <a:t>这页的表达要克制：把多模态定义为未来方向和研究热点，而不是当前现场 Demo 的选择。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预计时间：70秒。</a:t>
            </a:r>
          </a:p>
          <a:p xmlns:a="http://schemas.openxmlformats.org/drawingml/2006/main">
            <a:r>
              <a:t>讲述重点：这一页是整场汇报的安全阀。面对严谨医学听众，最重要的是主动承认边界。</a:t>
            </a:r>
          </a:p>
          <a:p xmlns:a="http://schemas.openxmlformats.org/drawingml/2006/main">
            <a:r>
              <a:t>可以说 Agent 能做 evidence retrieval、case summarization、trial pre-screening；不能说它能自主诊断、治疗规划或替代 MDT。</a:t>
            </a:r>
          </a:p>
          <a:p xmlns:a="http://schemas.openxmlformats.org/drawingml/2006/main">
            <a:r>
              <a:t>监管上，若系统对诊疗产生实质影响，就可能进入更严格的临床决策支持软件或医疗器械监管框架，需要生命周期管理、验证、监测和责任归属。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预计时间：60秒。</a:t>
            </a:r>
          </a:p>
          <a:p xmlns:a="http://schemas.openxmlformats.org/drawingml/2006/main">
            <a:r>
              <a:t>讲述重点：给出 2-3 个候选 Demo，再说明为什么推荐 MDT 证据整合 Agent。</a:t>
            </a:r>
          </a:p>
          <a:p xmlns:a="http://schemas.openxmlformats.org/drawingml/2006/main">
            <a:r>
              <a:t>理由：它覆盖肿瘤学核心痛点，输出可结构化、可引用，适合用模拟病例，不涉及真实隐私，也不会让观众误以为系统在直接给医嘱。</a:t>
            </a:r>
          </a:p>
          <a:p xmlns:a="http://schemas.openxmlformats.org/drawingml/2006/main">
            <a:r>
              <a:t>根据用户要求，第一版只做概念页面介绍，不现场依赖真实 Dify 工作流。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预计时间：55秒。</a:t>
            </a:r>
          </a:p>
          <a:p xmlns:a="http://schemas.openxmlformats.org/drawingml/2006/main">
            <a:r>
              <a:t>讲述重点：这是概念 Demo 页面，而非宣称已经部署的医疗系统。目标用户可以是 MDT 会前准备人员、研究护士、肿瘤科医生或医学信息团队。</a:t>
            </a:r>
          </a:p>
          <a:p xmlns:a="http://schemas.openxmlformats.org/drawingml/2006/main">
            <a:r>
              <a:t>输入尽量用模拟病例，输出只做 Evidence Brief：摘要、证据、引用、待核实问题和免责声明。</a:t>
            </a:r>
          </a:p>
          <a:p xmlns:a="http://schemas.openxmlformats.org/drawingml/2006/main">
            <a:r>
              <a:t>设计风格要医学信息系统化：白底、深蓝、青绿色、灰色，避免科幻视觉和商业宣传语。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预计时间：75秒。</a:t>
            </a:r>
          </a:p>
          <a:p xmlns:a="http://schemas.openxmlformats.org/drawingml/2006/main">
            <a:r>
              <a:t>讲述重点：Dify 的价值是快速把流程做成可视化节点：表单输入、LLM 处理、知识库检索、条件分支、结构化输出。</a:t>
            </a:r>
          </a:p>
          <a:p xmlns:a="http://schemas.openxmlformats.org/drawingml/2006/main">
            <a:r>
              <a:t>第一版现场不需要真实联网或真实 Dify 工作流。可以把这页作为演示过渡页，并用静态模拟输出展示 Agent 价值。</a:t>
            </a:r>
          </a:p>
          <a:p xmlns:a="http://schemas.openxmlformats.org/drawingml/2006/main">
            <a:r>
              <a:t>Prompt 设计示例：你是肿瘤 MDT 证据整理助手。仅基于提供的模拟病例和检索资料生成 Evidence Brief。不得输出诊断或治疗医嘱。每条证据必须注明来源和年份。证据不足时说明不确定性和需人工复核点。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预计时间：60秒。</a:t>
            </a:r>
          </a:p>
          <a:p xmlns:a="http://schemas.openxmlformats.org/drawingml/2006/main">
            <a:r>
              <a:t>讲述重点：因为会议是黑色素瘤方向，可以用一个黑色素瘤模拟病例作为例子，但整场汇报仍聚焦肿瘤学通用 Agent 能力。</a:t>
            </a:r>
          </a:p>
          <a:p xmlns:a="http://schemas.openxmlformats.org/drawingml/2006/main">
            <a:r>
              <a:t>现场脚本：‘我不会输入真实患者信息，这里只用一个去标识化模拟病例。我们让系统回答的也不是下一步怎么治，而是：MDT 应该讨论哪些证据、哪些信息缺失、有没有临床试验方向需要人工核实。’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预计时间：60秒。</a:t>
            </a:r>
          </a:p>
          <a:p xmlns:a="http://schemas.openxmlformats.org/drawingml/2006/main">
            <a:r>
              <a:t>讲述重点：Evidence Brief 的结构非常关键。它应该把 Agent 的输出限制在可审阅、可追溯、可质疑的材料，而不是临床医嘱。</a:t>
            </a:r>
          </a:p>
          <a:p xmlns:a="http://schemas.openxmlformats.org/drawingml/2006/main">
            <a:r>
              <a:t>演示失败备用方案：如果现场网络或 Dify 页面不可用，可以直接展示这页的静态输出模板，并说‘第一版演示的是概念流程，真实上线前需要接入知识库、检索日志、评价集和医生审核流程’。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预计时间：75秒。</a:t>
            </a:r>
          </a:p>
          <a:p xmlns:a="http://schemas.openxmlformats.org/drawingml/2006/main">
            <a:r>
              <a:t>讲述重点：从 Dify Demo 到临床系统，中间差的不只是工程实现，更是验证体系。要有数据治理、模型评价、临床评价和制度治理。</a:t>
            </a:r>
          </a:p>
          <a:p xmlns:a="http://schemas.openxmlformats.org/drawingml/2006/main">
            <a:r>
              <a:t>可以强调：真实应用至少要有本院标准化评价集、医生盲评、错误分类、引用准确率、时间节约、工作流接受度，以及异常输出处理机制。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预计时间：65秒。</a:t>
            </a:r>
          </a:p>
          <a:p xmlns:a="http://schemas.openxmlformats.org/drawingml/2006/main">
            <a:r>
              <a:t>讲述重点：把未来展望收束到三个词：可信、可评估、可监管。不要用‘颠覆医疗’之类表达。</a:t>
            </a:r>
          </a:p>
          <a:p xmlns:a="http://schemas.openxmlformats.org/drawingml/2006/main">
            <a:r>
              <a:t>对于技术听众，可以补充：未来关键在于工具调用可靠性、证据链追踪、模型漂移监测、多模态一致性检查、以及与院内信息系统和监管框架的适配。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预计时间：60秒。</a:t>
            </a:r>
          </a:p>
          <a:p xmlns:a="http://schemas.openxmlformats.org/drawingml/2006/main">
            <a:r>
              <a:t>结束语建议：‘我认为肿瘤学 Agent 的核心价值，不是把医生替换成模型，而是把复杂、分散、快速更新的证据组织成可审阅、可追踪、可讨论的材料。这样的系统必须在医生主导、证据透明、持续验证和监管框架下使用。’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预计时间：可跳过。</a:t>
            </a:r>
          </a:p>
          <a:p xmlns:a="http://schemas.openxmlformats.org/drawingml/2006/main">
            <a:r>
              <a:t>备注：参考文献页用于备查。汇报中不需要逐条阅读，但如果专家提问，可以指向这些研究：系统综述、工具增强 Agent、TrialGPT/TrialMatchAI、RAG 研究、MDT 试点、WHO/FDA 监管伦理框架。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5b21cfc29d40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e3cdb78e69454f" /><Relationship Type="http://schemas.openxmlformats.org/officeDocument/2006/relationships/slideLayout" Target="/ppt/slideLayouts/slideLayout1.xml" Id="Rf0657b8efdb643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657b8efdb643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cademic Oncology Agent">
      <a:dk1>
        <a:srgbClr val="000000"/>
      </a:dk1>
      <a:lt1>
        <a:srgbClr val="FFFFFF"/>
      </a:lt1>
      <a:dk2>
        <a:srgbClr val="0B1F3A"/>
      </a:dk2>
      <a:lt2>
        <a:srgbClr val="E5E7EB"/>
      </a:lt2>
      <a:accent1>
        <a:srgbClr val="0B1F3A"/>
      </a:accent1>
      <a:accent2>
        <a:srgbClr val="0E8F8A"/>
      </a:accent2>
      <a:accent3>
        <a:srgbClr val="B7791F"/>
      </a:accent3>
      <a:accent4>
        <a:srgbClr val="A33A3A"/>
      </a:accent4>
      <a:accent5>
        <a:srgbClr val="5B5F97"/>
      </a:accent5>
      <a:accent6>
        <a:srgbClr val="2F855A"/>
      </a:accent6>
      <a:hlink>
        <a:srgbClr val="0E8F8A"/>
      </a:hlink>
      <a:folHlink>
        <a:srgbClr val="5B5F9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cademic Oncology Agen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1ffc133ca43b9" /><Relationship Type="http://schemas.openxmlformats.org/officeDocument/2006/relationships/notesSlide" Target="/ppt/notesSlides/notesSlide1.xml" Id="R4a9ff73aba2740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c217862024fda" /><Relationship Type="http://schemas.openxmlformats.org/officeDocument/2006/relationships/notesSlide" Target="/ppt/notesSlides/notesSlide2.xml" Id="Rc12e7eaeb2fb42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62c9f6f02478d" /><Relationship Type="http://schemas.openxmlformats.org/officeDocument/2006/relationships/notesSlide" Target="/ppt/notesSlides/notesSlide3.xml" Id="R8bc6b7921ab841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3d5fb77054995" /><Relationship Type="http://schemas.openxmlformats.org/officeDocument/2006/relationships/notesSlide" Target="/ppt/notesSlides/notesSlide4.xml" Id="R80005ae513ef49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9ae7207324de1" /><Relationship Type="http://schemas.openxmlformats.org/officeDocument/2006/relationships/notesSlide" Target="/ppt/notesSlides/notesSlide5.xml" Id="Rcc30bb181b9a4f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8e5f7f33f46b9" /><Relationship Type="http://schemas.openxmlformats.org/officeDocument/2006/relationships/notesSlide" Target="/ppt/notesSlides/notesSlide6.xml" Id="R946600632f4643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8942a7b094dcb" /><Relationship Type="http://schemas.openxmlformats.org/officeDocument/2006/relationships/notesSlide" Target="/ppt/notesSlides/notesSlide7.xml" Id="Rdbfbedb5287041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cc3be34d34f9e" /><Relationship Type="http://schemas.openxmlformats.org/officeDocument/2006/relationships/notesSlide" Target="/ppt/notesSlides/notesSlide8.xml" Id="R30bb032a70ce48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cc6eba19141df" /><Relationship Type="http://schemas.openxmlformats.org/officeDocument/2006/relationships/notesSlide" Target="/ppt/notesSlides/notesSlide9.xml" Id="R44f0eb06c9fb49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602cae0064864" /><Relationship Type="http://schemas.openxmlformats.org/officeDocument/2006/relationships/notesSlide" Target="/ppt/notesSlides/notesSlide10.xml" Id="R81adce6bb6d542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d57534adf4ff7" /><Relationship Type="http://schemas.openxmlformats.org/officeDocument/2006/relationships/notesSlide" Target="/ppt/notesSlides/notesSlide11.xml" Id="Rb614ebac3b5949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dcfe70e824a87" /><Relationship Type="http://schemas.openxmlformats.org/officeDocument/2006/relationships/notesSlide" Target="/ppt/notesSlides/notesSlide12.xml" Id="R115d90b3d6a044b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51beed4454e4b" /><Relationship Type="http://schemas.openxmlformats.org/officeDocument/2006/relationships/notesSlide" Target="/ppt/notesSlides/notesSlide13.xml" Id="R88209d5b85db46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e7438eb824c3d" /><Relationship Type="http://schemas.openxmlformats.org/officeDocument/2006/relationships/notesSlide" Target="/ppt/notesSlides/notesSlide14.xml" Id="Rbd195856586e44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2cc8074304488" /><Relationship Type="http://schemas.openxmlformats.org/officeDocument/2006/relationships/notesSlide" Target="/ppt/notesSlides/notesSlide15.xml" Id="R7a6fc036a9b54b4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7f503ea1249b0" /><Relationship Type="http://schemas.openxmlformats.org/officeDocument/2006/relationships/notesSlide" Target="/ppt/notesSlides/notesSlide16.xml" Id="Red74c67c3edd428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df42ed895469d" /><Relationship Type="http://schemas.openxmlformats.org/officeDocument/2006/relationships/notesSlide" Target="/ppt/notesSlides/notesSlide17.xml" Id="R781db7090e3f4b5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2575153884f40" /><Relationship Type="http://schemas.openxmlformats.org/officeDocument/2006/relationships/notesSlide" Target="/ppt/notesSlides/notesSlide18.xml" Id="Rcfaa45804d70483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055b635634522" /><Relationship Type="http://schemas.openxmlformats.org/officeDocument/2006/relationships/notesSlide" Target="/ppt/notesSlides/notesSlide19.xml" Id="R7c51db8b100b411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3e2bb8a054dcc" /><Relationship Type="http://schemas.openxmlformats.org/officeDocument/2006/relationships/notesSlide" Target="/ppt/notesSlides/notesSlide20.xml" Id="R76ac9bec8dd54fc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c2402fb0048ef" /><Relationship Type="http://schemas.openxmlformats.org/officeDocument/2006/relationships/notesSlide" Target="/ppt/notesSlides/notesSlide21.xml" Id="Ra9b3115c2ae54b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E2250F-0189-417E-A1AB-17FDDD6B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2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B564D-4472-4953-8513-09E407A5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60F8D-0579-42D5-8F9E-5E701956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4850"/>
            <a:ext cx="1809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DDF7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F6BDF-845C-4617-A198-4AEDC760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20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20分钟学术汇报 · 第一版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AF278-04AB-406E-A522-B9CE2A75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1F3A"/>
                </a:solidFill>
              </a:defRPr>
            </a:pPr>
            <a:r>
              <a:rPr sz="3900" b="1">
                <a:solidFill>
                  <a:srgbClr val="0B1F3A"/>
                </a:solidFill>
              </a:rPr>
              <a:t>智能体在肿瘤学领域中的</a:t>
            </a:r>
          </a:p>
          <a:p xmlns:a="http://schemas.openxmlformats.org/drawingml/2006/main">
            <a:pPr algn="l">
              <a:defRPr sz="3900" b="1">
                <a:solidFill>
                  <a:srgbClr val="0B1F3A"/>
                </a:solidFill>
              </a:defRPr>
            </a:pPr>
            <a:r>
              <a:rPr sz="3900" b="1">
                <a:solidFill>
                  <a:srgbClr val="0B1F3A"/>
                </a:solidFill>
              </a:rPr>
              <a:t>应用现状及未来展望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FFBD9-460E-4E09-ABBC-0719638E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4151"/>
                </a:solidFill>
              </a:defRPr>
            </a:pPr>
            <a:r>
              <a:rPr sz="1800" b="0">
                <a:solidFill>
                  <a:srgbClr val="374151"/>
                </a:solidFill>
              </a:rPr>
              <a:t>从 LLM 到可信证据工作流：研究进展、应用场景与 Dify 演示概念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8A551-F558-4F25-A828-AAE1CB1E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中国抗癌协会黑色素瘤专委会第二届黑色素瘤学术大会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分会场4：黑色素瘤诊疗新进展专题分会场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B54A1-9E6A-4483-BC9C-A2B396CE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95400"/>
            <a:ext cx="2857500" cy="3619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CB404-CE78-4973-845E-C74DD015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95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汇报主线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EEFFD-0D30-4A40-AD98-C4B1F632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86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4EA52-E3E4-4CF3-948E-61D8DBFD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098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肿瘤学为什么需要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AA08E2-FA9E-40B8-A86F-1CB85C05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27C96E-A9B1-4AEE-9583-8291139E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241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前沿证据做到什么程度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1F300-BB9D-491B-974C-3FF388DE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EA9548-CEA2-481E-B8C2-52F82915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385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哪些场景适合先落地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0BEFA1-0394-4D33-A47B-AEF41C64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85FC00-3817-49EB-B807-3433531F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528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一个低风险现场 Demo 概念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C67E36-10E6-4084-A9BE-2D18A6FE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531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33A3A"/>
                </a:solidFill>
              </a:defRPr>
            </a:pPr>
            <a:r>
              <a:rPr sz="975" b="0">
                <a:solidFill>
                  <a:srgbClr val="A33A3A"/>
                </a:solidFill>
              </a:rPr>
              <a:t>仅供学术研究与临床讨论辅助，不作为诊断或治疗建议。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CB518D-9846-4434-B328-442E38AD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5AB01A-D0E4-4C3A-88DA-68D7DB6A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F9F212-0912-4D92-B050-73B6B2BB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241101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2EA9FF-A2AD-475C-AD6A-37C5D7F5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肿瘤学需要的是证据整合型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1442E-8734-4477-B85E-A04C2741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3E7D3-8B60-4BA2-BD2C-04B74B9C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核心判断：肿瘤学的难点不是“问答”，而是跨数据、跨学科、跨证据等级的连续整合。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E0A93-FA5E-4509-95BB-60212A61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2766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3DFBA-CFC7-415D-BD13-019057D2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95B"/>
          </a:solidFill>
          <a:ln xmlns:a="http://schemas.openxmlformats.org/drawingml/2006/main" w="0">
            <a:solidFill>
              <a:srgbClr val="1239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68015-FD1F-485D-8F4B-5E7F617F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395B"/>
                </a:solidFill>
              </a:defRPr>
            </a:pPr>
            <a:r>
              <a:rPr sz="975" b="1">
                <a:solidFill>
                  <a:srgbClr val="12395B"/>
                </a:solidFill>
              </a:rPr>
              <a:t>临床复杂性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376D2-6F9D-4505-8AD5-E45538DA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26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信息源高度异构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6F5EF-E980-4343-AAD6-CC7A9019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2819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病历、影像、病理、分子检测、既往治疗、指南、论文、药品标签与临床试验同时参与决策。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2AA5A-D8C1-4326-9742-03A97486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95450"/>
            <a:ext cx="32766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6F036-CC0D-414E-88D1-A2E42459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954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8D9A5C-43FB-4841-8D8D-0080282E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859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8F8A"/>
                </a:solidFill>
              </a:defRPr>
            </a:pPr>
            <a:r>
              <a:rPr sz="975" b="1">
                <a:solidFill>
                  <a:srgbClr val="0E8F8A"/>
                </a:solidFill>
              </a:rPr>
              <a:t>知识更新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A9335D-08F9-4BE4-92DC-022ECBBD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526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证据不断刷新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1B413-71C0-4EA5-B976-6782DE26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71750"/>
            <a:ext cx="2819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靶向治疗、免疫治疗、联合方案和适应证变化快，单次记忆型模型容易过时。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9F304-1CA1-4732-84F1-547EBAB4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95450"/>
            <a:ext cx="32766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6CDF1A-B7DF-4F0D-989E-07133217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954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F97"/>
          </a:solidFill>
          <a:ln xmlns:a="http://schemas.openxmlformats.org/drawingml/2006/main" w="0">
            <a:solidFill>
              <a:srgbClr val="5B5F9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AEC4E-8AB8-4726-B8DF-5895F3E7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859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5F97"/>
                </a:solidFill>
              </a:defRPr>
            </a:pPr>
            <a:r>
              <a:rPr sz="975" b="1">
                <a:solidFill>
                  <a:srgbClr val="5B5F97"/>
                </a:solidFill>
              </a:rPr>
              <a:t>协作流程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27F0F5-47AD-40F8-AEDA-C18984B3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MDT 是天然多智能体场景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11B26-FB15-4B4D-B1AE-44516D0F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2819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肿瘤内科、外科、放疗、影像、病理、遗传咨询与研究护士需要共享问题清单与证据摘要。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B52412-5B83-4538-A1CC-A7C71CE5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适合放在 PPT 上：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3FCB7A-F8A5-4369-B7D6-E8CF8B44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91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29B960-51B5-433E-996B-ED653CB5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14850"/>
            <a:ext cx="960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Agent 的价值：把“检索、核对、结构化输出、引用证据”连成流程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1410C6-A35F-48D8-BDE5-38DCF310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4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F18E13-30CE-4894-B41C-C31248AA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960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临床定位：证据辅助与会前准备，而不是自动给出治疗决定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E2C2D4-A9C2-49D6-B30F-E2FFEE14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0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047EDB-06F6-43D1-BCAF-3B890D20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29250"/>
            <a:ext cx="960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风险意识：输入不全、证据等级不清、幻觉与责任边界必须显式处理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2C73D0-C199-49FD-A9B8-77887F8F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0F3AA5-F74F-4DFE-9951-C14E984D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Nature AI agents in oncology collection, 2025; Truhn et al., npj Precision Oncology, 2024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F8136C-2E3F-44C0-B6E5-000C7CF7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501216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F7A4A7-FD03-4E56-AEC0-9A7EDD3F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Agent 不是更会聊天，而是能完成流程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E7C22-5FB2-47F4-A390-F310ACDC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09D55-3D80-4413-BC28-C4B1CEBE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从 Chatbot 到 Agent，关键变化是：模型开始调用工具、执行步骤并保留证据。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DBE59-F9AB-4E15-9C3E-4AD5D861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4429125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A386B-4346-4E21-8BD5-AE094132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621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</a:defRPr>
            </a:pPr>
            <a:r>
              <a:rPr sz="2100" b="1">
                <a:solidFill>
                  <a:srgbClr val="0B1F3A"/>
                </a:solidFill>
              </a:rPr>
              <a:t>Chatbot /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F333B-E07F-43E3-A61B-C929E0B9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82BDF-DED7-4F67-A41C-5F0BA90B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33650"/>
            <a:ext cx="350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输入：自然语言问题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A042F-34FE-442D-A2C2-A12717F8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19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B4EC1-382F-442D-A178-E34F43EC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43225"/>
            <a:ext cx="350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输出：自然语言回答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69B19-F5D3-4533-BD16-FA4AEF9A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2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3C8B58-F5B9-4873-B38D-7A307C4A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52800"/>
            <a:ext cx="350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强项：总结、解释、改写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F8692-8A17-43B2-87C9-6FAE1B09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9525">
            <a:solidFill>
              <a:srgbClr val="6B728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AB8D5-7740-4A7D-B662-C32EF1BE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62375"/>
            <a:ext cx="350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弱项：知识过时、无法核验、难以执行多步任务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BA49E-797F-46A0-B5C0-020B177D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14500"/>
            <a:ext cx="4429125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BEEB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F7EDA-F011-44F5-B570-F8B16434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621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</a:defRPr>
            </a:pPr>
            <a:r>
              <a:rPr sz="2100" b="1">
                <a:solidFill>
                  <a:srgbClr val="0B1F3A"/>
                </a:solidFill>
              </a:rPr>
              <a:t>LLM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9C3DD9-D938-4DC8-A774-5D067F6C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09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7F7EA-C188-4AF4-9BE6-9254B458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33650"/>
            <a:ext cx="350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先拆解任务，再选择工具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4DDD18-B8EE-4A17-BEE9-165A4771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19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B70743-0E26-4025-ADF9-6E610FE2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43225"/>
            <a:ext cx="350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检索指南、论文、数据库与试验信息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4030B0-476F-467B-A737-C7FBAB5E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2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8C2E59-5645-4A6F-8502-B1D07BA9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52800"/>
            <a:ext cx="350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按模板输出 Evidence Brief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590FFA-3646-4BF8-8FA3-B043A2B0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AD3503-718F-48AA-971C-3B2B60EA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62375"/>
            <a:ext cx="350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把引用、限制和需人工判断的问题显式列出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D14BA6-0A69-47A8-B04E-B990AB99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05100"/>
            <a:ext cx="8953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8652F8-184F-4C1A-A22B-9DA084A5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76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8F8A"/>
                </a:solidFill>
              </a:defRPr>
            </a:pPr>
            <a:r>
              <a:rPr sz="1200" b="1">
                <a:solidFill>
                  <a:srgbClr val="0E8F8A"/>
                </a:solidFill>
              </a:rPr>
              <a:t>能力边界变化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B1A723-F445-406B-857E-49A606A0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19700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面向医学听众的一句话：Agent 不是“更像医生的聊天框”，而是“受约束的证据整理流程”。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98839F-D1E7-45E9-A011-38F680F7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F46403-7B08-4535-9C97-CB1B2584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Nature AI agents in oncology collection, 2025; Hao et al., npj Digital Medicine, 2025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5AB44B-1A36-49F6-ACC7-D92D3BB9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78371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5D7253-8272-4291-8083-B3C5C1FC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技术底座：把生成能力约束在证据流程里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A519E-4E05-4453-A593-83E3F267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6073A-7A4B-4558-BA71-F46968F2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Agent 的每个技术部件都应对应一个临床信息痛点。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A43C2-96CF-4DB9-A56A-3BD5E5E4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39E4C-3D26-4B35-B7BE-933A56D4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0BB4A-A601-4E2D-9ABD-AF71B582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6192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B87BA-8241-475C-BDDD-38459B2E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28775"/>
            <a:ext cx="7486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</a:defRPr>
            </a:pPr>
            <a:r>
              <a:rPr sz="1350" b="0">
                <a:solidFill>
                  <a:srgbClr val="374151"/>
                </a:solidFill>
              </a:rPr>
              <a:t>从指南、论文、药品标签和数据库检索证据，降低模型只凭记忆回答的风险。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2669C-B83C-43BE-9D43-7B42291A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4F732-350A-463C-9100-D9DD548C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E59FF-D786-43CC-B6D4-53C373C3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003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Tool Use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BB4E21-9FAD-4ADE-8B7D-69C00FD5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09825"/>
            <a:ext cx="7486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</a:defRPr>
            </a:pPr>
            <a:r>
              <a:rPr sz="1350" b="0">
                <a:solidFill>
                  <a:srgbClr val="374151"/>
                </a:solidFill>
              </a:rPr>
              <a:t>调用 PubMed、ClinicalTrials.gov、OncoKB、计算器或院内系统，获得可追踪结果。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2A50B-F20A-4838-BF36-2E843F3B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AD983-4053-4C0F-B2FA-52947BAF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242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08CEE-494D-4467-A66D-8DA0245E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813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C76BF-C94B-4247-927E-AFFFDD8B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90875"/>
            <a:ext cx="7486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</a:defRPr>
            </a:pPr>
            <a:r>
              <a:rPr sz="1350" b="0">
                <a:solidFill>
                  <a:srgbClr val="374151"/>
                </a:solidFill>
              </a:rPr>
              <a:t>把病例整理、问题拆解、证据检索、摘要生成和人工复核拆成固定节点。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E81E5F-4808-4455-99ED-517F790A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C592D8-759C-4B41-AD82-F4E81674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D99161-B25B-47C2-B94A-63FBCDC4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624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Memory / EHR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E16FE3-AAC7-4012-B1B4-872DB3BB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971925"/>
            <a:ext cx="7486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</a:defRPr>
            </a:pPr>
            <a:r>
              <a:rPr sz="1350" b="0">
                <a:solidFill>
                  <a:srgbClr val="374151"/>
                </a:solidFill>
              </a:rPr>
              <a:t>记录上下文与既往治疗线索；真实应用必须处理隐私、权限与审计。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A04457-95A7-45C5-ADDC-C8E21AA0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79D059-FEFC-445B-A34D-00F86C4F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863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6CF2C0-179D-4FB4-9340-20F40678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434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Multi-Agent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71B8D8-67BA-4751-A863-D923CAF0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52975"/>
            <a:ext cx="7486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</a:defRPr>
            </a:pPr>
            <a:r>
              <a:rPr sz="1350" b="0">
                <a:solidFill>
                  <a:srgbClr val="374151"/>
                </a:solidFill>
              </a:rPr>
              <a:t>把影像、病理、分子、药物安全和协调角色分开，但仍需人类总控。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BFE80A-4266-42E4-9BB6-EFF13D5A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72050"/>
            <a:ext cx="2381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6D98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F81009-1441-44EC-8E4C-8417A6D1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24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791F"/>
                </a:solidFill>
              </a:defRPr>
            </a:pPr>
            <a:r>
              <a:rPr sz="1275" b="1">
                <a:solidFill>
                  <a:srgbClr val="B7791F"/>
                </a:solidFill>
              </a:rPr>
              <a:t>关键约束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7EF6DB-DAB1-4142-9E28-D82BCC67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3721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74151"/>
                </a:solidFill>
              </a:defRPr>
            </a:pPr>
            <a:r>
              <a:rPr sz="1125" b="0">
                <a:solidFill>
                  <a:srgbClr val="374151"/>
                </a:solidFill>
              </a:rPr>
              <a:t>先检索、再生成；先引用、再解释；先辅助、再决策。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617E10-1124-42C6-B5A5-D37A7E16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B2843C-B744-4A39-B246-108C7CD8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Zakka et al., NEJM AI, 2024; Ferber et al., NEJM AI, 2024; Nature Cancer, 2025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A7BD73-70B2-4F5E-B0CC-8F1A637D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937045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CACC0D-4E2E-4E02-85A7-B13B3334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应用版图：从检索到多模态协作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7D074-B5E2-45DD-8691-C62C3C30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49ACF-85CD-48F6-B920-2F62059F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更适合先演示的，是可引用、可复核、低患者安全风险的场景。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255AE-EC88-40C5-98F4-7A9A704E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临床成熟度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4F742-3006-40D9-A788-BE7276AB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72125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C4D3B-2023-4538-BA9B-F54D1165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448300"/>
            <a:ext cx="3429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2954D-5496-4C3C-9AEA-B8ECBA50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102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39C8D-0F4F-4742-889D-58566E45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8102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</a:defRPr>
            </a:pPr>
            <a:r>
              <a:rPr sz="1050" b="0">
                <a:solidFill>
                  <a:srgbClr val="6B7280"/>
                </a:solidFill>
              </a:rPr>
              <a:t>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E9298-62E9-444C-BED9-F9F6E1AB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演示安全性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83536-AD60-4ABC-9CB5-7296F3CF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716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D528A1-7885-461C-824D-749954C9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86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3F83E4-E05B-4A70-BAC6-71AB9200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指南/证据检索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D9BDD-15B5-4F1B-88F8-56CD5C2B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8AA188-0C57-4C9D-B0D1-3E0428C6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24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文献追踪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2D647-0D51-499E-8804-BCCC1CA7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ADCB10-147D-48CB-8F11-5C052B10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33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临床试验初筛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7778F3-D693-49E8-BEE0-1D06EF64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2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88815-C942-4657-B28E-98C1D0EB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90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MDT 会前摘要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7817B2-EC93-4F74-B890-1943E8BD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90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F97"/>
          </a:solidFill>
          <a:ln xmlns:a="http://schemas.openxmlformats.org/drawingml/2006/main" w="9525">
            <a:solidFill>
              <a:srgbClr val="5B5F9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B8985E-06EB-4973-B0A9-8CF19B28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52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分子报告解释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FF5076-F495-4AAA-82CA-E3063FE6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71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F97"/>
          </a:solidFill>
          <a:ln xmlns:a="http://schemas.openxmlformats.org/drawingml/2006/main" w="9525">
            <a:solidFill>
              <a:srgbClr val="5B5F9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62DEA1-8BCE-4D04-B230-6D2B25A5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336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患者教育/随访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65AA62-1804-46C8-8617-1F12CD1A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DDBE45-0FA8-469D-A317-C4304162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48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不良反应监测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2E435B-5E17-4CF4-9E92-B4CF3FC1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0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63D763-0E94-4C11-8219-0BA33BDC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67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多模态影像/病理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4F88A7-D836-4409-928D-D2132974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33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9525">
            <a:solidFill>
              <a:srgbClr val="A33A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B144B9-6E1E-4766-ACF0-F900FF2A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955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自动治疗规划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CA5CE7-79E4-4137-AE34-E79EB771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66850"/>
            <a:ext cx="26860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BFE6C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AAE17D-C432-4433-AD0C-7D483C90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95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55A"/>
                </a:solidFill>
              </a:defRPr>
            </a:pPr>
            <a:r>
              <a:rPr sz="1650" b="1">
                <a:solidFill>
                  <a:srgbClr val="2F855A"/>
                </a:solidFill>
              </a:rPr>
              <a:t>优先演示区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8DAA70-8F3B-4D32-BCBE-5B0089BB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383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可使用模拟病例、公开指南/论文、结构化输出和免责声明，风险较低。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F52337-EE60-44D1-91A5-4A11778D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FC17B5-3BC8-4385-A2D8-7EA9D7EB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Mathes et al., npj Precision Oncology, 2026; Nature AI agents in oncology collection, 2025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7EDD9B-5AAE-459B-A69E-CE1E973F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095313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8C10A3-95BA-4FCF-8CA2-F695DE2E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前沿证据显示：能力在进步，临床仍需验证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4DDDD-D874-4F19-B136-3CF04205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F9EDA-5780-4323-91BB-A36F5975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代表性研究的共同结论：工具增强和检索增强显著改善表现，但安全、泛化与真实世界验证仍不足。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1AAA5-5C89-45D9-8148-8887599F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48590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90332-E49F-4FBA-B02D-8015ED6D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1EF34-B57E-4022-A45B-B658ADA5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466850"/>
            <a:ext cx="156210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A2B6C-8014-4E4B-813C-55C6BC71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571625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AA7C4-2BD8-4D7D-9753-A60F046C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66850"/>
            <a:ext cx="20002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83380-116A-48C6-99AF-C4347D2D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71625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技术路线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46713-F2B8-4789-A1EE-873EFBC8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66850"/>
            <a:ext cx="20764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E7103-E91C-4D65-B8CE-93D87469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71625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主要发现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BAD78-434A-4ACA-9784-5EAFA833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66850"/>
            <a:ext cx="27241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BDCF19-7F29-4DF0-8D05-86BEE8B7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57162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启发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401A9D-0EB0-43FA-8642-76E45AA1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4859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341788-BA15-431D-B57C-539FAE60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1F3A"/>
                </a:solidFill>
              </a:defRPr>
            </a:pPr>
            <a:r>
              <a:rPr sz="1013" b="1">
                <a:solidFill>
                  <a:srgbClr val="0B1F3A"/>
                </a:solidFill>
              </a:rPr>
              <a:t>JAMA Netw Open 2023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8A2E3E-180A-4CD9-BE12-EEE53523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24050"/>
            <a:ext cx="15621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E0E2A-9479-4CFA-9925-549F0C03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002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精准肿瘤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FA6A06-BEBD-4F19-9D1C-E6C2A45F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24050"/>
            <a:ext cx="2000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238080-7543-41EF-A1AC-EFE09540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4个LLM vs MTB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8CB655-2C52-4EA2-9658-BF89932A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0764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91A81A-140D-41FF-8876-21E2A54B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002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F1较低，但可补充想法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0949D5-910C-4B82-9E41-84F06757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24050"/>
            <a:ext cx="27241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5E4652-78D3-4DC8-871A-0E9FFB5E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0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不能裸用模型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191978-A2D5-429E-B23B-6337FACC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14859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8EBA23-AE43-4091-8E24-31D12C38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1F3A"/>
                </a:solidFill>
              </a:defRPr>
            </a:pPr>
            <a:r>
              <a:rPr sz="1013" b="1">
                <a:solidFill>
                  <a:srgbClr val="0B1F3A"/>
                </a:solidFill>
              </a:rPr>
              <a:t>NEJM AI 2024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FAF3CA-4A37-4A47-82AC-F8C0BED8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57450"/>
            <a:ext cx="15621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53ED16-A3B8-4A1D-80D9-B84AE05C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5336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指南检索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D2497D-A2CC-4862-B59E-97472B89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57450"/>
            <a:ext cx="2000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E37F09-D927-42A7-9C3A-6DA3110C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336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RAG+医学语料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D87A43-F35B-4834-BB40-D3376E00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57450"/>
            <a:ext cx="20764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84DC50-3CAA-451F-B116-CB09D2F2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336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事实性/完整性提升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287D55-A033-4B4F-A2BD-EEECBAF1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57450"/>
            <a:ext cx="27241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0A95BD-238A-4F15-AD88-5E4D2DC6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33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RAG适合先落地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096336-71FA-4E1F-998A-DB6A1688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14859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949A36-C248-4377-9D39-CEE62625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1F3A"/>
                </a:solidFill>
              </a:defRPr>
            </a:pPr>
            <a:r>
              <a:rPr sz="1013" b="1">
                <a:solidFill>
                  <a:srgbClr val="0B1F3A"/>
                </a:solidFill>
              </a:rPr>
              <a:t>TrialGPT 2024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B046DB-55EE-4BC8-AAF4-BC185FB2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990850"/>
            <a:ext cx="15621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8F135C-24AE-4275-A49C-CF9E910B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670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试验匹配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C75A55-5E90-404F-98F3-8E9FC3BD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90850"/>
            <a:ext cx="2000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08A1D9-4134-429E-9133-7874A72D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670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检索+匹配+排序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E285B0-27B0-48B4-B28C-BBEE3231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90850"/>
            <a:ext cx="20764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8664A3-F204-44E1-A3BB-07D14D84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670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筛选时间减少42.6%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B37AF1-D197-4326-A381-BCD47859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90850"/>
            <a:ext cx="27241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7DFE9C-249C-4DBE-8210-516E98EE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670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价值清晰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157D54-810B-425A-8BA7-A43C16FD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4859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67087F-B06B-430D-864E-B3D30F55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1F3A"/>
                </a:solidFill>
              </a:defRPr>
            </a:pPr>
            <a:r>
              <a:rPr sz="1013" b="1">
                <a:solidFill>
                  <a:srgbClr val="0B1F3A"/>
                </a:solidFill>
              </a:rPr>
              <a:t>Nature Cancer 2025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CE9A8C-B652-4A23-A702-D5772778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24250"/>
            <a:ext cx="15621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87F504-86DD-41B7-8B9A-E7886646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004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多模态决策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2C954C-6B4F-4ADA-A3AD-C5BE5F26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24250"/>
            <a:ext cx="2000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D305AB-6ACF-4E46-AE2C-9190966B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004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GPT-4+工具+图像/基因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354DD8-7F28-46A8-9CD2-47C6A7AB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20764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776CA7A-8555-47B9-80B0-920AEA2F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结论正确率91.0%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0367CFC-7574-4CB0-92D8-540AF14D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24250"/>
            <a:ext cx="27241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232DE6-6064-4B5A-A901-53F44116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004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Agent优于裸LLM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3D97EB2-FB9E-4ACE-BBF5-8CAF0A00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14859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3BDDBA5-F1D5-4751-96F1-B61D2D3D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1F3A"/>
                </a:solidFill>
              </a:defRPr>
            </a:pPr>
            <a:r>
              <a:rPr sz="1013" b="1">
                <a:solidFill>
                  <a:srgbClr val="0B1F3A"/>
                </a:solidFill>
              </a:rPr>
              <a:t>npj DM 2025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5A65A7B-BA09-44E5-A1AA-F6538666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57650"/>
            <a:ext cx="15621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8C0518-656A-45B8-A261-9466914A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1338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系统综述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E1FE2D1-44FD-4807-B7A2-709A6B5C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57650"/>
            <a:ext cx="2000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7D5726D-3A65-425B-9397-C871E9EA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338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56项研究Meta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F9835CF-B537-4EE2-AD63-7FCFB53A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57650"/>
            <a:ext cx="20764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F7733A2-08F0-4B61-95A2-911A32DE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338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总体准确率76.2%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3576BC7-E7BF-4721-9982-0B4BCF13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57650"/>
            <a:ext cx="27241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B7E6B2A-4931-4894-B0FE-2FC14927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338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评价体系不足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8F2E9C2-C06D-4950-9461-A7B35918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14859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274B0F6-5809-4300-96B5-F4F614E1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1F3A"/>
                </a:solidFill>
              </a:defRPr>
            </a:pPr>
            <a:r>
              <a:rPr sz="1013" b="1">
                <a:solidFill>
                  <a:srgbClr val="0B1F3A"/>
                </a:solidFill>
              </a:rPr>
              <a:t>TrialMatchAI 2026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40FBBB5-5A2C-4506-BA67-815B3D97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591050"/>
            <a:ext cx="15621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2758995-CD96-4A13-BD35-316E9C18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6672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试验推荐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7C05E62-FE8E-4109-A70A-E298C654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91050"/>
            <a:ext cx="2000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D44233D-2420-4A4A-8330-1639F048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672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开源LLM+RAG+混合检索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917E575-E2D9-45D6-BC93-D69DE588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91050"/>
            <a:ext cx="20764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0161A9C-3BD3-4A7F-8749-CF1C415D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Top20检索覆盖92%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DED1B7C-0C12-449F-879D-D7783185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91050"/>
            <a:ext cx="27241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C945F8F-0406-4E86-95AE-596A6968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67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</a:defRPr>
            </a:pPr>
            <a:r>
              <a:rPr sz="1013" b="0">
                <a:solidFill>
                  <a:srgbClr val="374151"/>
                </a:solidFill>
              </a:rPr>
              <a:t>可解释与本地部署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937A2D9-1BFB-4BA3-91C9-0347FDD6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表中只放高价值研究；更多文献与 DOI 放在最后参考页和备注中。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284BEEA-5D41-46DB-82E9-E567B70B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418A354-BC06-43AB-9391-39EB04CE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JAMA Netw Open 2023; NEJM AI 2024; NCI 2024; Nature Cancer 2025; npj Digital Medicine 2025; Nat Commun 2026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2BE29A9-1617-48C2-804F-453DB0EC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396845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6D7A76-DA12-453B-9C67-E5C716DD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场景一：指南与证据检索先落地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2526B-34CE-4FAC-8F27-4A290FE2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2B9C2-DF97-4D88-BDF6-9545703B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最稳妥的应用不是直接给方案，而是把“问题—证据—适用条件—引用”整理清楚。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2A6BA-E645-4B38-9407-73D60240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500313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A1F72-316B-4F5B-BB64-89E976EF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66900"/>
            <a:ext cx="219551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967FA-8FD9-414C-B472-53B85B57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219551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临床问题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8677D-B534-438B-BED3-380B473D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219551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将病例转成可检索问题：疾病、分期、治疗线、突变、合并症。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7D856-7A55-47BD-8011-8A8B2061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788" y="2333625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A7004-F99F-4BE5-836F-88B053EF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863" y="1714500"/>
            <a:ext cx="2500313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41519-9537-498C-836F-C5F48AB7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1866900"/>
            <a:ext cx="219551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F8A"/>
                </a:solidFill>
              </a:defRPr>
            </a:pPr>
            <a:r>
              <a:rPr sz="900" b="1">
                <a:solidFill>
                  <a:srgbClr val="0E8F8A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BB9C2E-CAE0-4065-A85D-3EBEBDD4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2114550"/>
            <a:ext cx="219551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证据检索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59F52-7F1F-4B20-8E8B-4FA627AF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2476500"/>
            <a:ext cx="219551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从指南、PubMed、药品标签、知识库中检索可引用片段。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27D4F9-8359-4575-B323-1B1AAF43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33625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9F683-A4FE-4C24-AF32-1E8D56E2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14500"/>
            <a:ext cx="2500313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BD17BC-BD03-4D74-9540-AF3C380D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866900"/>
            <a:ext cx="219551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791F"/>
                </a:solidFill>
              </a:defRPr>
            </a:pPr>
            <a:r>
              <a:rPr sz="900" b="1">
                <a:solidFill>
                  <a:srgbClr val="B7791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771570-6D4B-4552-87EE-0FA61831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14550"/>
            <a:ext cx="219551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证据分级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09A3AC-B12C-435A-9B70-9588D10B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76500"/>
            <a:ext cx="219551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区分指南推荐、临床试验、回顾研究、专家意见和个案证据。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A928B-18B7-4A85-BFBC-1557C6B9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413" y="2333625"/>
            <a:ext cx="247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2B9023-A99A-44B1-8A2B-F46279F3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1714500"/>
            <a:ext cx="2500313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060828-76C6-4FB8-9643-3C8C7035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888" y="1866900"/>
            <a:ext cx="219551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55A"/>
                </a:solidFill>
              </a:defRPr>
            </a:pPr>
            <a:r>
              <a:rPr sz="900" b="1">
                <a:solidFill>
                  <a:srgbClr val="2F855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210DCC-3646-4CC0-A687-275EABAD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888" y="2114550"/>
            <a:ext cx="219551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摘要输出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1CB224-C26A-4D9A-BB53-1512ACAE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888" y="2476500"/>
            <a:ext cx="219551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生成 Evidence Brief：结论、证据、限制、待讨论问题。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4CBD0F-0D74-4C27-9C6C-59062BE4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4476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C47393-4419-4E6E-A33C-F18F298A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A5D9C6-F548-4845-B774-57B310FC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14800"/>
            <a:ext cx="401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8F8A"/>
                </a:solidFill>
              </a:defRPr>
            </a:pPr>
            <a:r>
              <a:rPr sz="975" b="1">
                <a:solidFill>
                  <a:srgbClr val="0E8F8A"/>
                </a:solidFill>
              </a:rPr>
              <a:t>适合现场演示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B11CA4-0C7C-49E5-83D2-723E2BAA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高可解释，低风险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6B8DB4-B646-4821-A083-2EA32902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00600"/>
            <a:ext cx="401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观众可以直观看到 Agent 如何把散乱信息转为可审阅摘要；结论仍交给 MDT 和临床医生。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623FFE-A530-48B7-8542-6D105A23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24300"/>
            <a:ext cx="4476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C53EB8-F3DA-4D32-AFA6-007ED4A7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243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835396-DBFE-41F5-989C-269313DA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14800"/>
            <a:ext cx="401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791F"/>
                </a:solidFill>
              </a:defRPr>
            </a:pPr>
            <a:r>
              <a:rPr sz="975" b="1">
                <a:solidFill>
                  <a:srgbClr val="B7791F"/>
                </a:solidFill>
              </a:rPr>
              <a:t>不适合夸大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E0DF7A-0879-49F6-8108-2DED2B09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8150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RAG 不等于事实保证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732E46-DEAD-4E0A-82E1-37B7CBB5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00600"/>
            <a:ext cx="401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151"/>
                </a:solidFill>
              </a:defRPr>
            </a:pPr>
            <a:r>
              <a:rPr sz="1200" b="0">
                <a:solidFill>
                  <a:srgbClr val="374151"/>
                </a:solidFill>
              </a:rPr>
              <a:t>检索库质量、时间戳、分块策略、证据适用性和引用完整性都会影响输出。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0FFA96-286D-4BAE-AB40-F643D144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7BB8C7-B7F6-46A0-9205-5499CB0B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Ferber et al., NEJM AI, 2024; Xu et al., Scientific Reports, 2024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87DC9B-2F42-4DF4-8317-6339A402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548532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F3F465-0F69-4EC1-A312-2AEB7952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场景二：MDT 辅助适合做“会前准备”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623B7-A1E0-40B3-B8E1-E24E4CEE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BFDDA-969E-4C18-B8F5-378D11ED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Agent 可以提高讨论前的信息密度，但不能替代多学科判断。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41521-0F0D-4EA7-8F62-8A04A10F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325755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89B86-1B92-43B1-8742-0C130D1A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85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A"/>
                </a:solidFill>
              </a:defRPr>
            </a:pPr>
            <a:r>
              <a:rPr sz="1950" b="1">
                <a:solidFill>
                  <a:srgbClr val="0B1F3A"/>
                </a:solidFill>
              </a:rPr>
              <a:t>MDT 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BB435-97CE-4B0B-A413-99A0E200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3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E638A-33CF-4B6E-942D-15620DA9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57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病例摘要标准化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F2AC7-8CC7-4134-B87D-EB11E6FA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12426-4C1D-478D-95B8-15160D29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146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关键问题清单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FE87F6-36D9-4349-BE47-D946C37B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2B79D6-4452-4147-B537-05989ADB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718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缺失检查提醒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9FDC35-BA8D-433B-A0AF-F1A2478E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E7325-8B0A-4677-9AE8-3672557D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证据与试验初筛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F319A-7959-4166-9F21-DBF2E739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25755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BEEB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927E7C-FB27-47B3-813F-10E0A678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85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A"/>
                </a:solidFill>
              </a:defRPr>
            </a:pPr>
            <a:r>
              <a:rPr sz="1950" b="1">
                <a:solidFill>
                  <a:srgbClr val="0B1F3A"/>
                </a:solidFill>
              </a:rPr>
              <a:t>MDT 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876E9-46BA-4166-A475-B946BD17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3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101C63-E5ED-4482-9C87-29D5777D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57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快速定位证据来源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086B2-7CFB-40A0-B45F-FB41AE4E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90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054920-2EA9-44E9-B8E0-D0917DE4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146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比较不同方案依据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635274-5DFD-4487-8902-51C2672B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4FBC7-A889-403B-A687-846F037B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718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记录分歧与不确定性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DCF338-8066-4687-BEF9-21F4837D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0B2E3E-3D62-4566-BFD8-061B5118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290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生成讨论纪要草稿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A0394D-29A5-43AC-A203-68B00FCD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19250"/>
            <a:ext cx="325755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A83DA9-9D03-42C6-9CD4-DE5280F1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85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A"/>
                </a:solidFill>
              </a:defRPr>
            </a:pPr>
            <a:r>
              <a:rPr sz="1950" b="1">
                <a:solidFill>
                  <a:srgbClr val="0B1F3A"/>
                </a:solidFill>
              </a:rPr>
              <a:t>MDT 后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CE65EB-1766-4904-A7E1-C7EFF2E6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3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022584-A532-4FB3-ACA6-EAD884BF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574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计划结构化归档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D411BF-3566-406E-9879-43FE00CA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90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317F39-8FAA-4819-A9A2-48C86137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随访/试验提醒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A93BA8-77FC-4FC0-B8E9-6454E665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6D1783-1ABC-4149-84B2-CD576487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718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患者沟通材料草稿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ED5E20-FBE3-428B-95B7-A85E2438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9CBC40-4CD9-4ABD-83D8-B6C6853E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290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质量与审计追踪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C1B430-7351-45AC-B9CC-F5632861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研究信号：RCC MDT 试点中 LLM 与 MDT 决策总体一致率 62.1%；Nature Cancer 工具增强 Agent 在20个多模态病例中达到91.0%正确临床结论。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FA3E29-8F0B-46E8-95ED-2099DE7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1ED80B-6242-458C-B614-2B481533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Bertolo et al., npj Precision Oncology, 2025; Nature Cancer autonomous AI agent, 2025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CB650E-6A96-4B24-B519-70FF8FD6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04485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7C6596-429F-45E4-9C54-903E6F13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场景三：临床试验匹配价值明确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0BA73-1F37-4FD6-972B-BE177D9C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A0E2C-172A-43BF-91C8-10525A98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试验匹配的痛点是“耗时、条件复杂、数据分散”，Agent 很适合做预筛。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35DEF-FA26-47F2-A4D6-B8C47E68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2557463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3257D-56F1-4852-8448-D63333FD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22526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CB5B0-B83B-4798-9A77-53BF7392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25266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患者特征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3FD39-10B8-4C06-B377-77C2B5D4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252663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肿瘤类型、分期、突变、治疗线、ECOG、器官功能、地域。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9D053-4F2E-42D3-AD59-EBB3EA1B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788" y="2238375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4276B-347F-4A0D-9E29-A27574EB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1638300"/>
            <a:ext cx="2557463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32E4E-1946-4964-A17C-ABFF3D14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1790700"/>
            <a:ext cx="22526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F8A"/>
                </a:solidFill>
              </a:defRPr>
            </a:pPr>
            <a:r>
              <a:rPr sz="900" b="1">
                <a:solidFill>
                  <a:srgbClr val="0E8F8A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B22C5F-BE71-4707-ABF0-675E889C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2038350"/>
            <a:ext cx="225266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候选试验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148805-CC5D-4D6C-8879-78F38FBE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2400300"/>
            <a:ext cx="2252663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ClinicalTrials.gov / 注册平台检索；按疾病、突变、药物和地点初筛。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B66BCC-24C9-4F90-AF0D-E78B62D8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38375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1FBB7F-81AA-4BAE-9D91-D88DFD5E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38300"/>
            <a:ext cx="2557463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154E4-50E9-4A75-8536-EED77C12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90700"/>
            <a:ext cx="22526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791F"/>
                </a:solidFill>
              </a:defRPr>
            </a:pPr>
            <a:r>
              <a:rPr sz="900" b="1">
                <a:solidFill>
                  <a:srgbClr val="B7791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4EA7CA-41C3-4660-BFAA-76AE8A35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38350"/>
            <a:ext cx="225266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入排标准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FD4835-3CFB-4D79-B476-0D0896F2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0300"/>
            <a:ext cx="2252663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逐条判断 inclusion / exclusion，标注不确定项。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2181D1-C9F0-44EC-89F8-986BC469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0613" y="2238375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6A3D49-F732-4AB8-8BEA-8698F64B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1638300"/>
            <a:ext cx="2557463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120A12-5528-4551-AB94-214DD83F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1790700"/>
            <a:ext cx="22526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55A"/>
                </a:solidFill>
              </a:defRPr>
            </a:pPr>
            <a:r>
              <a:rPr sz="900" b="1">
                <a:solidFill>
                  <a:srgbClr val="2F855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5C6247-91EF-477E-8C21-5EA49D83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2038350"/>
            <a:ext cx="225266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排序与解释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BAD4E1-AFDF-4B85-8A0C-0DAB958B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2400300"/>
            <a:ext cx="2252663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输出候选列表、匹配理由、排除原因和需人工核实内容。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D083F1-32E9-497F-84CA-9F97C87A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BFE6C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60E500-87FD-4BBB-B1F8-925D11BD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62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855A"/>
                </a:solidFill>
              </a:defRPr>
            </a:pPr>
            <a:r>
              <a:rPr sz="1800" b="1">
                <a:solidFill>
                  <a:srgbClr val="2F855A"/>
                </a:solidFill>
              </a:rPr>
              <a:t>TrialGPT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B2E1B6-0DB7-4762-8566-9604D2AF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</a:defRPr>
            </a:pPr>
            <a:r>
              <a:rPr sz="1275" b="0">
                <a:solidFill>
                  <a:srgbClr val="374151"/>
                </a:solidFill>
              </a:rPr>
              <a:t>NCI 报告：用户研究中患者筛选时间减少 42.6%。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92BB1C-E497-4917-8B1F-C9528CAD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147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BEEB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D67EC5-5814-4AA7-AD80-067E1804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62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8F8A"/>
                </a:solidFill>
              </a:defRPr>
            </a:pPr>
            <a:r>
              <a:rPr sz="1800" b="1">
                <a:solidFill>
                  <a:srgbClr val="0E8F8A"/>
                </a:solidFill>
              </a:rPr>
              <a:t>TrialMatchAI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495004-4463-4CD4-889B-C563FE0C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434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</a:defRPr>
            </a:pPr>
            <a:r>
              <a:rPr sz="1275" b="0">
                <a:solidFill>
                  <a:srgbClr val="374151"/>
                </a:solidFill>
              </a:rPr>
              <a:t>2026 年研究：92%患者在Top20中至少检索到一个相关试验。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91DD87-810E-4E22-AA9F-1D02B271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147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3BBB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59D498-DFA9-4D22-8773-230FCCD8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62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33A3A"/>
                </a:solidFill>
              </a:defRPr>
            </a:pPr>
            <a:r>
              <a:rPr sz="1800" b="1">
                <a:solidFill>
                  <a:srgbClr val="A33A3A"/>
                </a:solidFill>
              </a:rPr>
              <a:t>定位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957B37-0B0A-4E36-AF78-323FFFF2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434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</a:defRPr>
            </a:pPr>
            <a:r>
              <a:rPr sz="1275" b="0">
                <a:solidFill>
                  <a:srgbClr val="374151"/>
                </a:solidFill>
              </a:rPr>
              <a:t>只能做预筛；最终入组必须由研究者和临床团队确认。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84A8BF-DD99-4C3A-BD3B-12D1DFFA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AFB316-B7BC-4AA2-94B3-320F0CEF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NCI TrialGPT, 2024; Abdallah et al., Nature Communications, 2026; ClinicalTrials.gov API v2.0, NLM 2024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651E4B-88FB-47DE-A501-1D58F1B8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691144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BB6A9F-4DBE-4A6F-9AEB-746F1D1A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场景四：分子报告解释需要证据等级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9B5EB-56B3-4F83-9FAB-492BB935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A8518-02BC-4370-9A24-950DEA4D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精准肿瘤学 Agent 的输出核心不是“靶点解释”，而是证据等级与适用条件。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07341-A859-4719-9A67-5CA53687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3143250" cy="342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C6196-0412-4AC5-A5BD-558E2EC1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A"/>
                </a:solidFill>
              </a:defRPr>
            </a:pPr>
            <a:r>
              <a:rPr sz="1950" b="1">
                <a:solidFill>
                  <a:srgbClr val="0B1F3A"/>
                </a:solidFill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A9DE5-E173-4A36-B764-8463ECEF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395CF-4D8C-415B-9B90-7E807BB0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肿瘤类型与分期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43D75-0ECD-4B9B-B2AF-E06C64A1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05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3FDC3-DDD0-4390-AA2A-6363A6E3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28925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NGS / IHC / MSI / TMB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CEDD3-3C9D-495A-81AC-85BAC454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B8BE5-E25A-4C65-9D5C-42520345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既往治疗线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3D0A9-4BF8-4251-B0FC-60EE5CB4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2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5550F3-51A0-4B2F-AFD6-50583A4C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86175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合并症与用药限制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0824F-FFD7-4C83-9F0C-35E2A845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C88ED8-A93C-4A7F-9D3E-EEDC49A4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14800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患者偏好与可及性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29058E-8FA9-4165-9304-6775A2BB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81150"/>
            <a:ext cx="3143250" cy="342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BEEB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64B580-D2E5-49EF-A522-27FE9EEA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47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A"/>
                </a:solidFill>
              </a:defRPr>
            </a:pPr>
            <a:r>
              <a:rPr sz="1950" b="1">
                <a:solidFill>
                  <a:srgbClr val="0B1F3A"/>
                </a:solidFill>
              </a:rPr>
              <a:t>证据锚点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70B5CD-7851-474B-B058-8C9BE333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76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8DEA7A-F70E-4C7D-8F71-3CFFDDAB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00300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OncoKB / CIViC / ClinVar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C26423-836F-43BF-A063-B49085A4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05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60BCCA-6ACB-4C91-9764-35230C90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28925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NCCN / ASCO / ESMO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FB20BA-698A-439A-87DE-69253870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E86B81-207C-48A0-8F29-1C487884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57550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FDA label / 药品说明书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93CC81-1672-4DE4-A6E2-CFB2DCB4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62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FAF130-57DB-4EA0-993F-4ED939D0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86175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临床试验与真实世界研究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7F0EE6-37E5-44C2-91C2-F8D93F58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72AA94-B46C-4F0C-AEAD-4CF89389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14800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本院 MTB 规则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191782-1357-4583-9A85-0C09922E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81150"/>
            <a:ext cx="3143250" cy="34290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E4B423-8897-49EB-B9D6-E7785081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47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A"/>
                </a:solidFill>
              </a:defRPr>
            </a:pPr>
            <a:r>
              <a:rPr sz="1950" b="1">
                <a:solidFill>
                  <a:srgbClr val="0B1F3A"/>
                </a:solidFill>
              </a:rPr>
              <a:t>输出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BE2E1D-4AE8-4A28-A5D7-4542034D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76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E403FF-374F-45D8-9735-A62B8CAC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00300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可解释变异摘要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5F08E0-3447-4290-A35B-E5A422CC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05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2FA4DA-1D5F-433E-A2B9-41925B3F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28925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证据等级与引用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C566EF-2E5B-43AD-BB85-E9A8B010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63DF1D-5A10-4D07-9450-73B0D75A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57550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潜在治疗方向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65C2A9-5DC6-4E34-B296-E8F70EB9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62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E444ED-C320-44FE-86BC-AB932E93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86175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试验匹配线索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24AD65-0CEC-4C11-A529-34F61581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9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C7A1EF-DA6C-490B-B1F2-6B9D6C36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14800"/>
            <a:ext cx="2266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不确定性与复核点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5092A0-1AA6-4403-BA16-4BE9BA6E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33A3A"/>
                </a:solidFill>
              </a:defRPr>
            </a:pPr>
            <a:r>
              <a:rPr sz="1500" b="1">
                <a:solidFill>
                  <a:srgbClr val="A33A3A"/>
                </a:solidFill>
              </a:rPr>
              <a:t>医学谨慎点：低级别证据、off-label、罕见突变和复杂合并症都不应被 Agent 简化为确定性治疗建议。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30F957-BA17-4497-AC92-6F811F7C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8755EE-28D2-49F4-98C1-9A91287F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MSK OncoKB; Benary et al., JAMA Network Open, 2023; The Oncologist, 2025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42080A-E44F-4ADD-ADBA-F8DF430E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437450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69BE29-3668-449D-B4B3-1140BA00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场景五：多模态 Agent 仍处早期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D69E5-0109-4EFE-8991-0F2C95EE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DC02E-B845-4CEC-B4E3-CB08E407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影像、病理、基因组与文本协同是未来方向，但真实临床落地需要更严格验证。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5ED94-9021-404B-859D-DF060AA8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5265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487FE-6E5E-4641-BD26-E1E9BF8E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4320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Coordinator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73837-41CF-4390-A118-B3D0BDEC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3CF25-4BB3-422E-A603-27E24D08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00025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8F8A"/>
                </a:solidFill>
              </a:defRPr>
            </a:pPr>
            <a:r>
              <a:rPr sz="1650" b="1">
                <a:solidFill>
                  <a:srgbClr val="0E8F8A"/>
                </a:solidFill>
              </a:rPr>
              <a:t>影像</a:t>
            </a:r>
          </a:p>
          <a:p xmlns:a="http://schemas.openxmlformats.org/drawingml/2006/main">
            <a:pPr algn="ctr">
              <a:defRPr sz="1650" b="1">
                <a:solidFill>
                  <a:srgbClr val="0E8F8A"/>
                </a:solidFill>
              </a:defRPr>
            </a:pPr>
            <a:r>
              <a:rPr sz="1650" b="1">
                <a:solidFill>
                  <a:srgbClr val="0E8F8A"/>
                </a:solidFill>
              </a:rPr>
              <a:t>Radiology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05CD2-8C99-4397-92CA-477ED22E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38375"/>
            <a:ext cx="129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913E9-16E8-4EE9-9F3B-25ED36EE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B5F9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37829-85D7-47F9-81AC-E363E1DB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0025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5F97"/>
                </a:solidFill>
              </a:defRPr>
            </a:pPr>
            <a:r>
              <a:rPr sz="1650" b="1">
                <a:solidFill>
                  <a:srgbClr val="5B5F97"/>
                </a:solidFill>
              </a:rPr>
              <a:t>病理</a:t>
            </a:r>
          </a:p>
          <a:p xmlns:a="http://schemas.openxmlformats.org/drawingml/2006/main">
            <a:pPr algn="ctr">
              <a:defRPr sz="1650" b="1">
                <a:solidFill>
                  <a:srgbClr val="5B5F97"/>
                </a:solidFill>
              </a:defRPr>
            </a:pPr>
            <a:r>
              <a:rPr sz="1650" b="1">
                <a:solidFill>
                  <a:srgbClr val="5B5F97"/>
                </a:solidFill>
              </a:rPr>
              <a:t>Pathology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3CFDF-A3C7-4255-B48F-98B6F295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1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7E9C3-12D4-42A8-B8C6-FAD0E796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0530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85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05596-CC7C-42A4-84E6-2B2E6987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958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855A"/>
                </a:solidFill>
              </a:defRPr>
            </a:pPr>
            <a:r>
              <a:rPr sz="1650" b="1">
                <a:solidFill>
                  <a:srgbClr val="2F855A"/>
                </a:solidFill>
              </a:rPr>
              <a:t>基因组</a:t>
            </a:r>
          </a:p>
          <a:p xmlns:a="http://schemas.openxmlformats.org/drawingml/2006/main">
            <a:pPr algn="ctr">
              <a:defRPr sz="1650" b="1">
                <a:solidFill>
                  <a:srgbClr val="2F855A"/>
                </a:solidFill>
              </a:defRPr>
            </a:pPr>
            <a:r>
              <a:rPr sz="1650" b="1">
                <a:solidFill>
                  <a:srgbClr val="2F855A"/>
                </a:solidFill>
              </a:rPr>
              <a:t>Genomics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F2D663-8F4B-4C71-A388-41D59E09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33925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330A7-AC42-4BDE-9215-DF8FD346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0530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79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47118F-CFB3-440D-92BD-0743FE25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958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7791F"/>
                </a:solidFill>
              </a:defRPr>
            </a:pPr>
            <a:r>
              <a:rPr sz="1650" b="1">
                <a:solidFill>
                  <a:srgbClr val="B7791F"/>
                </a:solidFill>
              </a:rPr>
              <a:t>指南/论文</a:t>
            </a:r>
          </a:p>
          <a:p xmlns:a="http://schemas.openxmlformats.org/drawingml/2006/main">
            <a:pPr algn="ctr">
              <a:defRPr sz="1650" b="1">
                <a:solidFill>
                  <a:srgbClr val="B7791F"/>
                </a:solidFill>
              </a:defRPr>
            </a:pPr>
            <a:r>
              <a:rPr sz="1650" b="1">
                <a:solidFill>
                  <a:srgbClr val="B7791F"/>
                </a:solidFill>
              </a:rPr>
              <a:t>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954A31-BA1F-41A3-8C9D-F23E54C5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339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1E9D02-BEEA-4F03-A417-2AABAE34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10363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3BBB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CF99E6-D397-4F08-B208-A2EF9E06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48300"/>
            <a:ext cx="986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33A3A"/>
                </a:solidFill>
              </a:defRPr>
            </a:pPr>
            <a:r>
              <a:rPr sz="1425" b="1">
                <a:solidFill>
                  <a:srgbClr val="A33A3A"/>
                </a:solidFill>
              </a:rPr>
              <a:t>不成熟之处：多模态输入的质量控制、跨模态冲突处理、外部验证、可解释性、责任归属和网络安全仍是主要门槛。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4BB34B-F2D3-4A78-AB63-C87747CC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3F79DB-596C-4E24-9C45-FD686F87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Nature Cancer autonomous AI agent, 2025; Truhn et al., npj Precision Oncology, 2024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B89C69-3530-402E-A69A-CA8DFAD6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016043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CC3E77-CA15-40FA-A6D7-F3F58E5C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真实边界：不能把研究探索说成临床成熟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114C9-48AE-4B24-B746-F08545FC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448E4-5438-410B-B378-3363F5B5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对肿瘤学听众，可信度来自边界意识，而不是夸张承诺。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07DF5-76B8-45CC-91BC-4C84D98E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0020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BFE6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C39C5-8069-4422-AF1E-44A526B4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050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855A"/>
                </a:solidFill>
              </a:defRPr>
            </a:pPr>
            <a:r>
              <a:rPr sz="2100" b="1">
                <a:solidFill>
                  <a:srgbClr val="2F855A"/>
                </a:solidFill>
              </a:rPr>
              <a:t>可以谨慎表述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31D91-C21C-4C20-97C1-EAC1FFCF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CEC63-827F-4EBB-ACE9-335208D1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14600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辅助证据检索与病历摘要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8BA62-4A14-41F6-B7AF-FCB31C77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272B9-3303-46E8-821D-472EEA4A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71800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生成 MDT 讨论清单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52483-5E6F-4464-B91C-3E3B827B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2CA43-5875-49C4-8AA9-B85AD3A7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29000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进行临床试验预筛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7F074A-33FC-44D0-9271-5499BFC3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62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61D111-8695-4176-96E6-DD7C3C9C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86200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提升信息整理效率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BEBDDB-A44D-460B-87F7-C476CC5D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4CA610-2413-4BF8-A5AA-B9AE7E60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43400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输出带引用的 Evidence Brief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9F0092-6C0D-42BA-9AAA-35E55C94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0020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3BBB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6EC084-AC35-4E3D-BF06-BBC27EBA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050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33A3A"/>
                </a:solidFill>
              </a:defRPr>
            </a:pPr>
            <a:r>
              <a:rPr sz="2100" b="1">
                <a:solidFill>
                  <a:srgbClr val="A33A3A"/>
                </a:solidFill>
              </a:rPr>
              <a:t>不应这样表述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FC2B59-7126-433B-965F-6FBE2F72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9525">
            <a:solidFill>
              <a:srgbClr val="A33A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82E08D-2BD9-4819-844E-E8DFC1CA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14600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替代医生或 MDT 决策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5F2EBE-31E9-45A7-A430-558279A4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9525">
            <a:solidFill>
              <a:srgbClr val="A33A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929AF8-5FB2-42ED-9001-E2FD639A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71800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自动诊断或自动治疗规划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45153D-1645-4E1B-8DCE-4648E7EA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9525">
            <a:solidFill>
              <a:srgbClr val="A33A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4C2CA3-4313-4C81-8379-F340F11E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29000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保证无幻觉、无偏倚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9D47CD-C4E2-4486-A7D7-393E274E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62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9525">
            <a:solidFill>
              <a:srgbClr val="A33A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450A9A-9FE5-4A0E-99AB-DDDB189F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86200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未经验证即可接入真实患者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8FEE96-9293-4A49-B1BF-93A55956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19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9525">
            <a:solidFill>
              <a:srgbClr val="A33A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8CA0D7-0647-42E3-8FC0-1FFDB756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43400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把模型输出当作医嘱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AE50BA-AFBA-4CCD-AA92-01663DCA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29250"/>
            <a:ext cx="975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建议口径：学术演示 / 临床证据辅助 / MDT 信息整理助手。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A574A9-FB07-4FEC-8CAC-6961F004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BC8388-9E4D-45BD-99A6-4EC4E420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Hao et al., npj Digital Medicine, 2025; WHO LMM guidance, 2025; FDA AI SaMD, 2025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F0B543-3962-4B58-B35B-E9292C41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960810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42431D-E45B-4349-B211-949660BA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现场演示应选择低风险、高可解释场景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41D03-3427-4B4B-88E6-125E39B9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193DE-7E8E-4AB4-A3CE-41799F49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第一版无需真实搭 Dify 工作流，先展示一个可落地的概念页面和交互脚本。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7098F-B85F-450F-B362-4337D1B3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32194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BFE6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6714A-BC85-4CC2-A1E9-4E419D60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838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65BA1-CC73-44C1-A240-F6558B70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574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推荐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8C433-CE64-4D09-AFC7-21427A80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MDT 证据整合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8F629-56A8-4C83-B010-5DF87D5B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</a:defRPr>
            </a:pPr>
            <a:r>
              <a:rPr sz="1275" b="0">
                <a:solidFill>
                  <a:srgbClr val="374151"/>
                </a:solidFill>
              </a:rPr>
              <a:t>输入模拟病例，输出关键问题、证据摘要、试验线索和讨论清单。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FC50A-7A63-4597-93F7-53839700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55A"/>
                </a:solidFill>
              </a:defRPr>
            </a:pPr>
            <a:r>
              <a:rPr sz="1050" b="1">
                <a:solidFill>
                  <a:srgbClr val="2F855A"/>
                </a:solidFill>
              </a:rPr>
              <a:t>最适合本次会议：贴近 MDT，能连接黑色素瘤语境，同时不越过诊疗边界。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4E5302-FD70-46F1-81CC-0CD7A2EC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52600"/>
            <a:ext cx="32194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B6D3E-3C28-40A3-AB30-B002C6C4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00250"/>
            <a:ext cx="838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DDF7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F074B-4A11-443C-B1B3-24B4BE58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574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稳妥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F5BED-849F-4555-B56B-F210CF56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765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文献新进展追踪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C49A5-2DD9-43D4-91BF-5FA6479D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194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</a:defRPr>
            </a:pPr>
            <a:r>
              <a:rPr sz="1275" b="0">
                <a:solidFill>
                  <a:srgbClr val="374151"/>
                </a:solidFill>
              </a:rPr>
              <a:t>输入疾病方向，输出 Evidence Brief、研究设计、结果、局限和临床意义。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4EC75-EDAE-47AB-89C5-4321202D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62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8F8A"/>
                </a:solidFill>
              </a:defRPr>
            </a:pPr>
            <a:r>
              <a:rPr sz="1050" b="1">
                <a:solidFill>
                  <a:srgbClr val="0E8F8A"/>
                </a:solidFill>
              </a:rPr>
              <a:t>可作为备选或后续扩展。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299A19-31AC-4ED1-AF3B-2F9AEF13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2194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93FBD9-F6DC-43D2-A489-020E251E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00250"/>
            <a:ext cx="838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DDF7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ED81B8-FFE3-46CC-9ABF-9CF90992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574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有价值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AA5AAB-E46D-4A1A-B1EC-41A21F14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临床试验初筛 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080787-0694-41C6-8999-5C43F274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194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</a:defRPr>
            </a:pPr>
            <a:r>
              <a:rPr sz="1275" b="0">
                <a:solidFill>
                  <a:srgbClr val="374151"/>
                </a:solidFill>
              </a:rPr>
              <a:t>输入患者特征，按公开入排标准给出候选试验和不确定项。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6EEF09-E729-4F18-8FFB-F8789654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62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F97"/>
                </a:solidFill>
              </a:defRPr>
            </a:pPr>
            <a:r>
              <a:rPr sz="1050" b="1">
                <a:solidFill>
                  <a:srgbClr val="5B5F97"/>
                </a:solidFill>
              </a:rPr>
              <a:t>可作为备选或后续扩展。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E03562-1F05-49E4-A11E-53BF24A8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816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E8F8A"/>
                </a:solidFill>
              </a:defRPr>
            </a:pPr>
            <a:r>
              <a:rPr sz="2100" b="1">
                <a:solidFill>
                  <a:srgbClr val="0E8F8A"/>
                </a:solidFill>
              </a:rPr>
              <a:t>推荐方案：Onco-MDT Evidence Brief 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6ECD77-F278-4447-B318-839FDE40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A670A8-050A-4410-8D17-1ADC2630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基于前述研究与现场演示风险评估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FF32C0-A70C-4604-B4A9-98A6D4EA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169879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557DD5-71B2-45C5-B321-2868793E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Demo 概念：Onco-MDT Evidence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B0D0B-DDD2-4332-B588-740C72BB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B9F2A-66B0-42F9-BDC0-EFC6EEF1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定位：面向 MDT 会前准备的肿瘤学证据整理助手。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497ED-EDE4-4774-B485-797DE102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CB71F-FA6F-4636-B051-8FCD5EDC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52600"/>
            <a:ext cx="2457450" cy="342900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06911-A383-4CA5-9724-7AE1759C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14550"/>
            <a:ext cx="1924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Onco-MDT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Evidence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95163-0509-41B2-93E3-8FB6BD8A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289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F3D0"/>
                </a:solidFill>
              </a:defRPr>
            </a:pPr>
            <a:r>
              <a:rPr sz="1200" b="0">
                <a:solidFill>
                  <a:srgbClr val="A7F3D0"/>
                </a:solidFill>
              </a:rPr>
              <a:t>学术演示版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DA156-2641-4DE6-BB44-3DB59A63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577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ECACA"/>
                </a:solidFill>
              </a:defRPr>
            </a:pPr>
            <a:r>
              <a:rPr sz="975" b="0">
                <a:solidFill>
                  <a:srgbClr val="FECACA"/>
                </a:solidFill>
              </a:rPr>
              <a:t>仅供学术研究与临床讨论辅助</a:t>
            </a:r>
          </a:p>
          <a:p xmlns:a="http://schemas.openxmlformats.org/drawingml/2006/main">
            <a:pPr algn="l">
              <a:defRPr sz="975" b="0">
                <a:solidFill>
                  <a:srgbClr val="FECACA"/>
                </a:solidFill>
              </a:defRPr>
            </a:pPr>
            <a:r>
              <a:rPr sz="975" b="0">
                <a:solidFill>
                  <a:srgbClr val="FECACA"/>
                </a:solidFill>
              </a:rPr>
              <a:t>不作为诊断或治疗建议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33CD3-68C7-46C6-9470-59F211AC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52600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765CC-80CB-4C51-A3BF-40A2916A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0002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3A11C-565F-4D81-869F-B406BFE8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95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B6B46-486F-49D2-BE84-BB53DCEA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1935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模拟病例结构化字段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1F3125-5CFF-411C-A309-570A531A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89F44-C57B-4FE4-A4B3-56446FB3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治疗线、分子标志物、试验问题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892FF8-2BB3-4FA7-9881-15E3E179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E738D6-3542-457C-A222-B03659A6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可选：指南 / 论文 PDF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D59924-C567-4A06-8D54-F3698CFD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52600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1F1482-1B58-4F81-8D25-08F1B7E2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002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输出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239BF5-766A-4B81-A89A-DE3BC6F6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64A995-63BA-471A-92AD-620E80B7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193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病例摘要与问题清单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A658F2-4DA8-4731-8A76-4D84E517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B78DB3-0666-4AED-97F9-80B28D5C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241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证据摘要与引用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0FE87D-08E1-4648-BD38-B37B0825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05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C9BCBF-07EC-4398-AFB6-29D91970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289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827"/>
                </a:solidFill>
              </a:defRPr>
            </a:pPr>
            <a:r>
              <a:rPr sz="1163" b="0">
                <a:solidFill>
                  <a:srgbClr val="111827"/>
                </a:solidFill>
              </a:rPr>
              <a:t>候选试验线索与待核实项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980594-1168-4BE6-8853-FBCEAFD7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7048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C5AC8E-455C-492E-8B44-8BA0B05E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848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页面视觉建议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D1D445-EDB4-425E-8D61-F285B9DC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191000"/>
            <a:ext cx="636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</a:defRPr>
            </a:pPr>
            <a:r>
              <a:rPr sz="1350" b="0">
                <a:solidFill>
                  <a:srgbClr val="374151"/>
                </a:solidFill>
              </a:rPr>
              <a:t>白底、深蓝标题、青绿色状态标记；像临床信息系统，不像科幻产品发布会。左侧为模拟病例，右侧为 Evidence Brief。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1A1136-F2FD-4B76-AC9E-DC511A84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AAD46D-CF26-486E-8CB0-AD93662B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Demo design, first version: no real Dify workflow required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9706D3-0C84-46D6-8B80-5962E2B1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142771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26A64D-A912-433D-8223-245D3040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概念架构：Dify 可先承载证据整理流程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B1712-880B-446E-8F49-2B2915B5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E5BB3-47BD-4A6F-B6F1-8DEDBDFA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第一版只需展示工作流设计，不需要现场真实跑通所有节点。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CEE42-755F-46A6-AF74-D72BE7CB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206502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EA70B-031C-470C-80D1-2F9E5514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7602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718AD-C1B2-460C-BB3B-F2ECF718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17602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病例输入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7D8AD-EA0A-4C49-AE45-B9E6E8FF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17602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表单校验；去标识化；限制为模拟病例。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6832C-A040-4960-9D3F-69306937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195" y="2257425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BCCC0C-66B6-436B-B1C7-E6535F6C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120" y="1657350"/>
            <a:ext cx="206502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AA1DA-DE17-4A3E-A44D-52C62541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809750"/>
            <a:ext cx="17602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F8A"/>
                </a:solidFill>
              </a:defRPr>
            </a:pPr>
            <a:r>
              <a:rPr sz="900" b="1">
                <a:solidFill>
                  <a:srgbClr val="0E8F8A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BFEE4-0614-4533-B2F4-64F179C0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057400"/>
            <a:ext cx="17602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问题拆解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42F74-B7AC-4CE6-8912-CF5EEFEA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419350"/>
            <a:ext cx="17602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生成 MDT 关注点：分期、治疗线、突变、转移、试验。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28E5BE-6135-40E3-95F2-478D5FDB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565" y="2257425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03FEE5-504B-4FE9-905B-DC1F1B58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1657350"/>
            <a:ext cx="206502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0E7E7A-4102-4C0A-A59E-0B07C5F9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890" y="1809750"/>
            <a:ext cx="17602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F97"/>
                </a:solidFill>
              </a:defRPr>
            </a:pPr>
            <a:r>
              <a:rPr sz="900" b="1">
                <a:solidFill>
                  <a:srgbClr val="5B5F97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E1D27E-BF64-46D6-9396-B045165E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890" y="2057400"/>
            <a:ext cx="17602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知识检索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B45022-5247-4906-9590-60B93F6F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890" y="2419350"/>
            <a:ext cx="17602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指南库、论文库、OncoKB、ClinicalTrials.gov。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432CBC-97FC-4314-9500-13FFBE04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935" y="2257425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DF67D9-0F52-48EA-8574-F53D7F9E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1657350"/>
            <a:ext cx="206502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04B9D1-6583-4016-8647-44CC31BA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1809750"/>
            <a:ext cx="17602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791F"/>
                </a:solidFill>
              </a:defRPr>
            </a:pPr>
            <a:r>
              <a:rPr sz="900" b="1">
                <a:solidFill>
                  <a:srgbClr val="B7791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5CBF64-B573-4320-8C54-505D0957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057400"/>
            <a:ext cx="17602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证据筛选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BDF406-DE4A-4D92-9F10-4580EA18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419350"/>
            <a:ext cx="17602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按证据等级、时间、适用人群和不确定性排序。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DAA83A-C125-4026-9FF6-719F0E8C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305" y="2257425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DD1A10-D7B2-4375-BC9A-928FE7E7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1657350"/>
            <a:ext cx="206502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94DCD9-7120-442C-B3CB-8470B29B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1809750"/>
            <a:ext cx="17602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55A"/>
                </a:solidFill>
              </a:defRPr>
            </a:pPr>
            <a:r>
              <a:rPr sz="900" b="1">
                <a:solidFill>
                  <a:srgbClr val="2F855A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AB59D2-453D-4047-9941-E3C21023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2057400"/>
            <a:ext cx="17602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结构化输出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E2C303-0147-4366-B535-4F91850E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2419350"/>
            <a:ext cx="17602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Evidence Brief + 引用 + 免责声明 + 人工复核清单。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85CF24-BC5D-4A01-B177-C9258E23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96964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3A4B5A-9033-4F25-A45D-85D44F9E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57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降幻觉设计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F0BEF6-003A-46AD-B101-020A3C6F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8F3CC7-B9AD-4B7E-9408-0D7A5EBA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38600"/>
            <a:ext cx="655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系统 Prompt 要求：没有检索证据时必须回答“证据不足/需人工核实”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8F8D56-F169-4DAC-B1DB-DA6A5422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0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A77F8E-36D5-4044-8B58-151B8BAF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24350"/>
            <a:ext cx="655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输出模板固定：结论、证据、适用条件、限制、不确定项、引用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A22DA3-E580-44FD-A354-3DE97C2B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86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999823-59F3-4174-9889-3FDE2331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10100"/>
            <a:ext cx="655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引用必须显示来源、年份和检索时间；临床建议使用“供讨论”而非“推荐”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EBBEE4-22EF-4CA6-AD4C-21D893C9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AB8C6A-B047-44EF-8160-F9C16D0E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ClinicalTrials.gov API v2.0, NLM 2024; MSK OncoKB; RAG/CDSS design principles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183313-D201-4C8F-94C3-787E630B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969000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A22620-B20E-47D2-AD9B-FD8F4CC7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模拟病例：用黑色素瘤连接会议语境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81C11-6650-42B4-A6D7-E599260C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0C10C-44EB-4462-8FC1-6681E5FB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病例只用于演示信息整理，不代表真实患者，也不生成治疗医嘱。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46F87-C018-4888-A329-EF41E839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43434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EDCE5-FBB9-4CA1-AD99-250B9753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A"/>
                </a:solidFill>
              </a:defRPr>
            </a:pPr>
            <a:r>
              <a:rPr sz="1950" b="1">
                <a:solidFill>
                  <a:srgbClr val="0B1F3A"/>
                </a:solidFill>
              </a:rPr>
              <a:t>模拟病例输入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26FB2-BB6C-4020-A46B-700AE48A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3600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</a:defRPr>
            </a:pPr>
            <a:r>
              <a:rPr sz="1275" b="0">
                <a:solidFill>
                  <a:srgbClr val="374151"/>
                </a:solidFill>
              </a:rPr>
              <a:t>患者：58岁，女性，转移性黑色素瘤（模拟）</a:t>
            </a:r>
          </a:p>
          <a:p xmlns:a="http://schemas.openxmlformats.org/drawingml/2006/main">
            <a:pPr algn="l">
              <a:defRPr sz="1275" b="0">
                <a:solidFill>
                  <a:srgbClr val="374151"/>
                </a:solidFill>
              </a:defRPr>
            </a:pPr>
            <a:r>
              <a:rPr sz="1275" b="0">
                <a:solidFill>
                  <a:srgbClr val="374151"/>
                </a:solidFill>
              </a:rPr>
              <a:t>病理：皮肤原发，既往切除；现肺/淋巴结转移</a:t>
            </a:r>
          </a:p>
          <a:p xmlns:a="http://schemas.openxmlformats.org/drawingml/2006/main">
            <a:pPr algn="l">
              <a:defRPr sz="1275" b="0">
                <a:solidFill>
                  <a:srgbClr val="374151"/>
                </a:solidFill>
              </a:defRPr>
            </a:pPr>
            <a:r>
              <a:rPr sz="1275" b="0">
                <a:solidFill>
                  <a:srgbClr val="374151"/>
                </a:solidFill>
              </a:rPr>
              <a:t>分子：BRAF V600E 阳性；MSI 未见高，TMB 中等</a:t>
            </a:r>
          </a:p>
          <a:p xmlns:a="http://schemas.openxmlformats.org/drawingml/2006/main">
            <a:pPr algn="l">
              <a:defRPr sz="1275" b="0">
                <a:solidFill>
                  <a:srgbClr val="374151"/>
                </a:solidFill>
              </a:defRPr>
            </a:pPr>
            <a:r>
              <a:rPr sz="1275" b="0">
                <a:solidFill>
                  <a:srgbClr val="374151"/>
                </a:solidFill>
              </a:rPr>
              <a:t>治疗史：PD-1 单药后进展；ECOG 1</a:t>
            </a:r>
          </a:p>
          <a:p xmlns:a="http://schemas.openxmlformats.org/drawingml/2006/main">
            <a:pPr algn="l">
              <a:defRPr sz="1275" b="0">
                <a:solidFill>
                  <a:srgbClr val="374151"/>
                </a:solidFill>
              </a:defRPr>
            </a:pPr>
            <a:r>
              <a:rPr sz="1275" b="0">
                <a:solidFill>
                  <a:srgbClr val="374151"/>
                </a:solidFill>
              </a:rPr>
              <a:t>临床问题：下一步 MDT 需讨论哪些证据与试验方向？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B357E-B96B-4710-A33E-2CBB775C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504950"/>
            <a:ext cx="54483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74261-42B5-4B1C-A6D7-A4258B80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A"/>
                </a:solidFill>
              </a:defRPr>
            </a:pPr>
            <a:r>
              <a:rPr sz="1950" b="1">
                <a:solidFill>
                  <a:srgbClr val="0B1F3A"/>
                </a:solidFill>
              </a:rPr>
              <a:t>现场交互流程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C7F36-AF11-42D1-A76B-204BA6ED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FFE9FE-DED4-481E-B2E2-3AFC7875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288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E2169F-0869-4604-9966-A5578858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43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粘贴模拟病例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7F2286-33FA-4E93-B0F7-56D6006A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289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提醒：去标识化、非真实患者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7C5020-8F7B-4976-BE5E-E4841EEE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90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B5E02F-5E2C-46E5-8CF9-B655960D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575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FC868-1EE8-4E4D-8578-AE12F462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71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选择任务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523E03-2104-4F6A-ACE4-548EDA36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575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MDT Evidence Brief / 试验预筛 / 文献摘要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47E892-A3A1-40E8-A097-889B829A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19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519147-D689-4906-81FE-4FF8C04A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861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7DD3FA-406B-45AD-A726-B35DBBA4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00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生成输出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4A9A3-98B1-43DA-9343-54924031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862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病例摘要、证据、待讨论问题、引用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E7CB51-5732-47D3-B95E-13B2E03C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48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833D99-A65F-4460-8537-1125C3D4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148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A6B1E9-DC0B-46F7-B8B0-5A0690E5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29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人工解释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F19E2D-F746-42B3-9FD4-CA9B5F00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148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说明哪些内容适合讨论，哪些不能作为医嘱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9706D6-3CC5-4AC2-9028-650F3601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80FD90-BB96-4048-9CF6-0033E46C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模拟病例；不涉及真实患者隐私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A73772-0A52-49C3-A763-28C204F8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984491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0B2BB0-85C9-46DD-8000-D3AEC5B5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预期输出：Evidence Brief，而非治疗医嘱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96902-2877-4D66-B82A-DEFC4CC6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A91DA-0173-4812-A8A9-2888CD04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把 Agent 输出设计成“可审阅摘要”，能显著降低医学风险。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28DF5-9637-4352-9B9D-1F9FA1D9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1055370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DD58E-182D-4AFE-AF27-7D22424B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66900"/>
            <a:ext cx="4400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484F2-D607-4E89-A1F7-05664DF0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病例摘要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24023-E84F-4996-B46D-0AD2B48A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002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</a:defRPr>
            </a:pPr>
            <a:r>
              <a:rPr sz="1163" b="0">
                <a:solidFill>
                  <a:srgbClr val="374151"/>
                </a:solidFill>
              </a:rPr>
              <a:t>一段话概括诊断背景、治疗线、分子特征和当前问题。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25558-B19C-4564-BD8A-6066EFC5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66900"/>
            <a:ext cx="4400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95D663-81A6-4673-950A-EA86B4A7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19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关键临床问题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561405-08BC-4AED-A367-B4E4F4C2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002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</a:defRPr>
            </a:pPr>
            <a:r>
              <a:rPr sz="1163" b="0">
                <a:solidFill>
                  <a:srgbClr val="374151"/>
                </a:solidFill>
              </a:rPr>
              <a:t>例如：进展后证据、BRAF相关方向、脑转移/症状控制、试验可及性。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45135-C29D-42F1-81BD-7BD692B1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33700"/>
            <a:ext cx="4400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57A904-229C-48D2-A669-11B444CD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86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证据摘要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F3E9D-0725-4886-A016-38643805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670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</a:defRPr>
            </a:pPr>
            <a:r>
              <a:rPr sz="1163" b="0">
                <a:solidFill>
                  <a:srgbClr val="374151"/>
                </a:solidFill>
              </a:rPr>
              <a:t>按指南、临床研究、药品标签、数据库线索分层展示，并注明年份。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B362D8-52AE-4CED-9D44-8A00C859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33700"/>
            <a:ext cx="4400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DB637A-D125-4DC5-9855-17967D4A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86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临床试验线索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1AFA3B-792B-4FB4-8311-37175C01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670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</a:defRPr>
            </a:pPr>
            <a:r>
              <a:rPr sz="1163" b="0">
                <a:solidFill>
                  <a:srgbClr val="374151"/>
                </a:solidFill>
              </a:rPr>
              <a:t>只列“可能相关方向”和需核实入排标准，不宣称可入组。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0904BB-E3A4-4EE4-B553-702FF4A6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00500"/>
            <a:ext cx="4400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E248ED-5149-4477-9788-94B756B1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52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MDT 讨论清单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3E4D8A-E140-4337-906B-EE12238A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133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</a:defRPr>
            </a:pPr>
            <a:r>
              <a:rPr sz="1163" b="0">
                <a:solidFill>
                  <a:srgbClr val="374151"/>
                </a:solidFill>
              </a:rPr>
              <a:t>缺失检查、需病理/影像复核点、患者偏好与安全性问题。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BB981-C908-4CF1-BBDD-F52DF4EB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00500"/>
            <a:ext cx="4400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D1F093-25D2-434C-84C4-494C88EA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52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33A3A"/>
                </a:solidFill>
              </a:defRPr>
            </a:pPr>
            <a:r>
              <a:rPr sz="1500" b="1">
                <a:solidFill>
                  <a:srgbClr val="A33A3A"/>
                </a:solidFill>
              </a:rPr>
              <a:t>免责声明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25376C-80E4-4837-8038-491E5C14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33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</a:defRPr>
            </a:pPr>
            <a:r>
              <a:rPr sz="1163" b="0">
                <a:solidFill>
                  <a:srgbClr val="374151"/>
                </a:solidFill>
              </a:rPr>
              <a:t>仅供学术研究与临床讨论辅助，不作为诊断或治疗建议。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9A5BD7-B117-42A1-A6F6-BAAA8550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95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E8F8A"/>
                </a:solidFill>
              </a:defRPr>
            </a:pPr>
            <a:r>
              <a:rPr sz="1725" b="1">
                <a:solidFill>
                  <a:srgbClr val="0E8F8A"/>
                </a:solidFill>
              </a:rPr>
              <a:t>现场讲法：这不是“AI 给方案”，而是“AI 帮 MDT 把讨论材料准备得更完整”。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74F30F-DE35-4AB7-BEBE-1745C107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D67DB9-0EFC-44A0-8DE5-1F3D35BE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Demo output template; aligned with human-in-the-loop CDSS principles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0948D8-89C4-4481-8637-00FE1764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479240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12BE92-C1DA-49B7-BE10-3163F297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从 Demo 到临床应用还差四层验证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D38C9-11AD-4C02-A6C8-586B63DE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E5F17-C318-47D8-A817-6980ECF5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Demo 证明可理解性；临床应用需要证明安全性、有效性、可监管性和流程适配。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9F2F5-1983-4BB8-A417-1ADF9EA3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E2C3E-A4D8-448C-B823-0F526FC9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133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BF894-8726-4012-8250-2F398133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764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数据层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47F8C-61DD-4FE9-98A8-77AD14A3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85925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74151"/>
                </a:solidFill>
              </a:defRPr>
            </a:pPr>
            <a:r>
              <a:rPr sz="1425" b="0">
                <a:solidFill>
                  <a:srgbClr val="374151"/>
                </a:solidFill>
              </a:rPr>
              <a:t>去标识化、权限、来源质量、更新机制、偏倚评估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B28AA-5C3D-4AFB-9395-A967BDCC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00300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CA334-F7F0-4AD5-A172-FC2BC33C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00300"/>
            <a:ext cx="133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36DC0-134D-4F7D-B23B-863493BA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527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8F8A"/>
                </a:solidFill>
              </a:defRPr>
            </a:pPr>
            <a:r>
              <a:rPr sz="1650" b="1">
                <a:solidFill>
                  <a:srgbClr val="0E8F8A"/>
                </a:solidFill>
              </a:rPr>
              <a:t>模型层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1843E-44CA-4A37-8307-120970C2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62225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74151"/>
                </a:solidFill>
              </a:defRPr>
            </a:pPr>
            <a:r>
              <a:rPr sz="1425" b="0">
                <a:solidFill>
                  <a:srgbClr val="374151"/>
                </a:solidFill>
              </a:rPr>
              <a:t>事实性、引用准确、鲁棒性、提示敏感性、漂移监测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CA9CF-9500-4CCF-BCEC-964EA658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76600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17D43D-D7E6-4E01-BAFF-CC183918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76600"/>
            <a:ext cx="133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2EA852-3D6D-45DD-A614-924E5780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290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791F"/>
                </a:solidFill>
              </a:defRPr>
            </a:pPr>
            <a:r>
              <a:rPr sz="1650" b="1">
                <a:solidFill>
                  <a:srgbClr val="B7791F"/>
                </a:solidFill>
              </a:rPr>
              <a:t>临床层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9F9CE6-E125-4841-8FB9-4C1A01BA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38525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74151"/>
                </a:solidFill>
              </a:defRPr>
            </a:pPr>
            <a:r>
              <a:rPr sz="1425" b="0">
                <a:solidFill>
                  <a:srgbClr val="374151"/>
                </a:solidFill>
              </a:rPr>
              <a:t>医生评价、真实病例外部验证、患者结局或流程指标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2C79F-D4B1-45D3-8D3F-114DE768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52900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6D87E1-E264-48CF-B285-950382A1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52900"/>
            <a:ext cx="133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0">
            <a:solidFill>
              <a:srgbClr val="A33A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ECE6BC-90DC-4836-B71B-250789AF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053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33A3A"/>
                </a:solidFill>
              </a:defRPr>
            </a:pPr>
            <a:r>
              <a:rPr sz="1650" b="1">
                <a:solidFill>
                  <a:srgbClr val="A33A3A"/>
                </a:solidFill>
              </a:rPr>
              <a:t>治理层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B3C32B-0E9B-4DDE-A513-FDC075D5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14825"/>
            <a:ext cx="676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74151"/>
                </a:solidFill>
              </a:defRPr>
            </a:pPr>
            <a:r>
              <a:rPr sz="1425" b="0">
                <a:solidFill>
                  <a:srgbClr val="374151"/>
                </a:solidFill>
              </a:rPr>
              <a:t>责任归属、审计日志、监管路径、网络安全、培训制度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2D2C1E-A7FD-437A-B1AC-0B9E02B9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86375"/>
            <a:ext cx="8458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BEEB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D57BD9-F8FE-410F-BC51-5AFA39F4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483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临床转化原则：人类负责最终判断，系统负责可追踪的信息组织。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13F098-C1FF-477F-A238-A52D149C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016EF8-6B1C-4622-9DC1-03286BF9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WHO LMM guidance, 2025; FDA AI SaMD, 2025; Mathes et al., npj Precision Oncology,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AD7A4C-6845-42B7-8C39-27D3A5AC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210005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D6289A-EE64-4902-9E99-3CBCC4FB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未来展望：可信、可评估、可监管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FE690-D8CC-4257-BC68-F81E334C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CED1E-2128-4C1A-B608-C6E89513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肿瘤学 Agent 的未来不是更强的聊天，而是更可靠的临床知识基础设施。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C2F77-9B44-45A4-A8B5-82C901E0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4686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2A37A-842F-4384-A474-5E546F03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从回答到工作流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8EEAD-A249-4840-9F7A-C83897EB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</a:defRPr>
            </a:pPr>
            <a:r>
              <a:rPr sz="1350" b="0">
                <a:solidFill>
                  <a:srgbClr val="374151"/>
                </a:solidFill>
              </a:rPr>
              <a:t>由单次问答转向病例摘要、检索、核验、引用、人工复核的闭环。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72C56-FAC0-49B3-B123-E941B8F6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76400"/>
            <a:ext cx="4686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BEEB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5A1F7-CC02-4682-9958-D39F7CDB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从单模型到工具链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610AA-6B7B-4222-963E-A445A6C1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241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</a:defRPr>
            </a:pPr>
            <a:r>
              <a:rPr sz="1350" b="0">
                <a:solidFill>
                  <a:srgbClr val="374151"/>
                </a:solidFill>
              </a:rPr>
              <a:t>通用 LLM 与指南库、试验库、分子数据库、影像/病理模型协同。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3DFC0-D399-4DFF-9404-1A2867AC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4686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C57A3C-5DD8-4E78-BBF2-643D25B9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从平均准确率到临床指标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4E197-2E55-4851-A2D1-CFD0D779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</a:defRPr>
            </a:pPr>
            <a:r>
              <a:rPr sz="1350" b="0">
                <a:solidFill>
                  <a:srgbClr val="374151"/>
                </a:solidFill>
              </a:rPr>
              <a:t>评价不只看答对多少，还要看伤害、清晰度、时间节约和决策质量。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76A319-6924-4D68-9D18-7BB4E9E3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52800"/>
            <a:ext cx="4686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BEEB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4A8E3-FBDF-468E-A93C-3AA1BD78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14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从研究原型到监管系统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FC6B64-4809-452C-89D7-7500D95E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005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</a:defRPr>
            </a:pPr>
            <a:r>
              <a:rPr sz="1350" b="0">
                <a:solidFill>
                  <a:srgbClr val="374151"/>
                </a:solidFill>
              </a:rPr>
              <a:t>生命周期管理、变更控制、审计日志、责任边界和真实世界监测。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ED0C3F-B656-4189-BB0C-CE78C28D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911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E8F8A"/>
                </a:solidFill>
              </a:defRPr>
            </a:pPr>
            <a:r>
              <a:rPr sz="1800" b="1">
                <a:solidFill>
                  <a:srgbClr val="0E8F8A"/>
                </a:solidFill>
              </a:rPr>
              <a:t>一句话展望：真正有价值的 Oncology Agent，应成为“可审计的证据协作者”。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8D9AD3-6AFC-4B04-8BD4-FAE96C6C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85E24-A625-4757-A9EE-F4A9C82A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Nature AI agents in oncology collection, 2025; WHO 2025; FDA 2025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F7DD01-E42A-4988-AE43-3C91B440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8559935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CB3F1F-A2D0-47FA-8DD5-ED8B125B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B7DC3-9145-413F-ACAB-B4BD2778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0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63C43-83BD-4A26-B4EF-B8ED1951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总结：Agent 的价值在于人机协同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DB8A0-9780-482B-AA23-D70E5C4F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33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E7673-DE48-4501-89D6-B882A977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BC4F4-191B-448B-BBDA-618460F0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954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肿瘤学 Agent 的合理定位是证据整合与流程增效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F49CC-930E-4D78-B880-F0F5CEB6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A962E-2ABA-4ECB-B530-63241FBA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1CE18-D0C7-4F13-A2E1-14009896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146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RAG、工具调用和工作流能显著改善裸 LLM 的可靠性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46618B-89BF-4930-9764-5773D1C0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8F28C-B9F1-4EA1-9BC5-08FCDAB4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8BBDA-85FE-4F16-9C0E-73DADA96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337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最适合先落地/演示的是 MDT Evidence Brief 与试验预筛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E7AB2-D955-478C-A04A-7DEE00BF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A"/>
          </a:solidFill>
          <a:ln xmlns:a="http://schemas.openxmlformats.org/drawingml/2006/main" w="9525">
            <a:solidFill>
              <a:srgbClr val="0E8F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3FBE16-651F-442A-8A93-E6F767B5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D996C3-A432-4C37-AEAD-4324AB69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529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真实临床应用必须经过验证、审计、监管与人类总控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75B500-A76B-4B3A-BCB3-45352DB7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ECACA"/>
                </a:solidFill>
              </a:defRPr>
            </a:pPr>
            <a:r>
              <a:rPr sz="1500" b="0">
                <a:solidFill>
                  <a:srgbClr val="FECACA"/>
                </a:solidFill>
              </a:rPr>
              <a:t>仅供学术研究与临床讨论辅助，不作为诊断或治疗建议。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51D560-D34A-4803-813E-C219FCF6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4483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36B3A8"/>
                </a:solidFill>
              </a:defRPr>
            </a:pPr>
            <a:r>
              <a:rPr sz="3150" b="1">
                <a:solidFill>
                  <a:srgbClr val="36B3A8"/>
                </a:solidFill>
              </a:rPr>
              <a:t>Q&amp;A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3324C4-37DC-46E2-9468-5818DDC2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E67669-EF94-4859-852A-72F633C8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Summary slide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6471CD-9BD0-45C0-B818-3F03E9FC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6840627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2BF587-C2EE-4D53-B065-81C546D8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8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参考文献（节选）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F9268-4F9B-4BDC-BEFC-B064E98B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8F8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D0CBB-C053-4070-9FF5-0CE21362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本页为汇报时可跳过的参考页；正文页底部保留关键来源。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938AA-8EA1-4277-9758-17D6A647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5143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1. Nature. AI agents in oncology collection, 2025. https://www.nature.com/collections/gfhdfhadcj</a:t>
            </a:r>
          </a:p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2. Hao Y. et al. Large language model integrations in cancer decision-making. npj Digital Medicine 2025;8:450.</a:t>
            </a:r>
          </a:p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3. Kather JN group. Development and validation of an autonomous AI agent for clinical decision-making in oncology. Nature Cancer 2025.</a:t>
            </a:r>
          </a:p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4. Abdallah M. et al. TrialMatchAI. Nature Communications 2026;17:4472.</a:t>
            </a:r>
          </a:p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5. NIH/NCI. TrialGPT reduces patient screening time by 42.6%, 2024.</a:t>
            </a:r>
          </a:p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6. Benary M. et al. Leveraging Large Language Models for Decision Support in Personalized Oncology. JAMA Network Open 2023.</a:t>
            </a:r>
          </a:p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7. Bertolo R. et al. LLMs in RCC MDT decision-making. npj Precision Oncology 2025;9:257.</a:t>
            </a:r>
          </a:p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8. Xu R. et al. RAG for breast cancer nursing care responses. Scientific Reports 2024;14:30794.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73CD8-4261-4D60-A5BB-B159AB76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28750"/>
            <a:ext cx="5143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9. Truhn D. et al. LLMs and multimodal foundation models for precision oncology. npj Precision Oncology 2024;8:72.</a:t>
            </a:r>
          </a:p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10. Mathes S. et al. Responsible AI in LLM-driven CDSS for precision oncology. npj Precision Oncology 2026;10:15.</a:t>
            </a:r>
          </a:p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11. Zakka C. et al. Almanac: retrieval-augmented language models for clinical medicine. NEJM AI 2024.</a:t>
            </a:r>
          </a:p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12. Ferber D. et al. GPT-4 for retrieval and comparison of medical oncology guidelines. NEJM AI 2024.</a:t>
            </a:r>
          </a:p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13. WHO. Ethics and governance of AI for health: guidance on large multi-modal models, 2025.</a:t>
            </a:r>
          </a:p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14. FDA. Artificial Intelligence in Software as a Medical Device, content current 2025.</a:t>
            </a:r>
          </a:p>
          <a:p xmlns:a="http://schemas.openxmlformats.org/drawingml/2006/main">
            <a:pPr algn="l">
              <a:defRPr sz="863" b="0">
                <a:solidFill>
                  <a:srgbClr val="374151"/>
                </a:solidFill>
              </a:defRPr>
            </a:pPr>
            <a:r>
              <a:rPr sz="863" b="0">
                <a:solidFill>
                  <a:srgbClr val="374151"/>
                </a:solidFill>
              </a:rPr>
              <a:t>15. MSK. OncoKB precision oncology knowledge base; ClinicalTrials.gov API v2.0, NLM 2024.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083E3-5EA9-4635-B280-725E56A9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53100"/>
            <a:ext cx="942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93107-16DF-4BCD-9516-35EECF48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48350"/>
            <a:ext cx="895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资料截至 2026-07-04；具体临床使用需核对最新指南、药品说明书与本地监管要求。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14C5C-B693-43A9-9467-C236219E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F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B8120D-7ACC-46FF-9D5C-7F704E83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</a:defRPr>
            </a:pPr>
            <a:r>
              <a:rPr sz="750" b="0">
                <a:solidFill>
                  <a:srgbClr val="6B7280"/>
                </a:solidFill>
              </a:rPr>
              <a:t>Selected references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E7F37C-898E-45A6-85E4-942658E3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063811164"/>
      </p:ext>
    </p:extLst>
  </p:cSld>
</p:sld>
</file>

<file path=ppt/theme/theme1.xml><?xml version="1.0" encoding="utf-8"?>
<a:theme xmlns:a="http://schemas.openxmlformats.org/drawingml/2006/main" name="ChatGPT">
  <a:themeElements>
    <a:clrScheme name="Academic Oncology Agent">
      <a:dk1>
        <a:srgbClr val="000000"/>
      </a:dk1>
      <a:lt1>
        <a:srgbClr val="FFFFFF"/>
      </a:lt1>
      <a:dk2>
        <a:srgbClr val="0B1F3A"/>
      </a:dk2>
      <a:lt2>
        <a:srgbClr val="E5E7EB"/>
      </a:lt2>
      <a:accent1>
        <a:srgbClr val="0B1F3A"/>
      </a:accent1>
      <a:accent2>
        <a:srgbClr val="0E8F8A"/>
      </a:accent2>
      <a:accent3>
        <a:srgbClr val="B7791F"/>
      </a:accent3>
      <a:accent4>
        <a:srgbClr val="A33A3A"/>
      </a:accent4>
      <a:accent5>
        <a:srgbClr val="5B5F97"/>
      </a:accent5>
      <a:accent6>
        <a:srgbClr val="2F855A"/>
      </a:accent6>
      <a:hlink>
        <a:srgbClr val="0E8F8A"/>
      </a:hlink>
      <a:folHlink>
        <a:srgbClr val="5B5F9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cademic Oncology Agen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2026-07-04T08:06:12.7170000Z</dcterms:created>
  <dcterms:modified xsi:type="dcterms:W3CDTF">2026-07-04T08:06:12.7170000Z</dcterms:modified>
</coreProperties>
</file>