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587a1f293e493d" /><Relationship Type="http://schemas.openxmlformats.org/officeDocument/2006/relationships/extended-properties" Target="/docProps/app.xml" Id="Rb7f1dee5d1e740f3" /><Relationship Type="http://schemas.openxmlformats.org/officeDocument/2006/relationships/officeDocument" Target="/ppt/presentation.xml" Id="R5947c2502e13463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0bf16576e584de1"/>
  </p:sldMasterIdLst>
  <p:notesMasterIdLst>
    <p:notesMasterId xmlns:r="http://schemas.openxmlformats.org/officeDocument/2006/relationships" r:id="Rfc84fd411bf24d3c"/>
  </p:notesMasterIdLst>
  <p:sldIdLst>
    <p:sldId xmlns:r="http://schemas.openxmlformats.org/officeDocument/2006/relationships" id="256" r:id="R3fdb10606b124f3c"/>
    <p:sldId xmlns:r="http://schemas.openxmlformats.org/officeDocument/2006/relationships" id="257" r:id="R4f6714e2217d4dc7"/>
    <p:sldId xmlns:r="http://schemas.openxmlformats.org/officeDocument/2006/relationships" id="258" r:id="R2707f6834c8c4d68"/>
    <p:sldId xmlns:r="http://schemas.openxmlformats.org/officeDocument/2006/relationships" id="259" r:id="R9abcab328687465f"/>
    <p:sldId xmlns:r="http://schemas.openxmlformats.org/officeDocument/2006/relationships" id="260" r:id="Rde3322864d654e56"/>
    <p:sldId xmlns:r="http://schemas.openxmlformats.org/officeDocument/2006/relationships" id="261" r:id="R9826517a8e334a37"/>
    <p:sldId xmlns:r="http://schemas.openxmlformats.org/officeDocument/2006/relationships" id="262" r:id="R86cf2f7922f543b7"/>
    <p:sldId xmlns:r="http://schemas.openxmlformats.org/officeDocument/2006/relationships" id="263" r:id="R0e0a42b3f8a44c6c"/>
    <p:sldId xmlns:r="http://schemas.openxmlformats.org/officeDocument/2006/relationships" id="264" r:id="R89b9a92e43674de6"/>
    <p:sldId xmlns:r="http://schemas.openxmlformats.org/officeDocument/2006/relationships" id="265" r:id="Rfe1af20d78424d08"/>
    <p:sldId xmlns:r="http://schemas.openxmlformats.org/officeDocument/2006/relationships" id="266" r:id="Rd163a09b81cf4323"/>
    <p:sldId xmlns:r="http://schemas.openxmlformats.org/officeDocument/2006/relationships" id="267" r:id="Rc4fdf9cd29a14e7b"/>
    <p:sldId xmlns:r="http://schemas.openxmlformats.org/officeDocument/2006/relationships" id="268" r:id="Racc89007af514dd4"/>
    <p:sldId xmlns:r="http://schemas.openxmlformats.org/officeDocument/2006/relationships" id="269" r:id="Rd2be6b4eac994cb7"/>
    <p:sldId xmlns:r="http://schemas.openxmlformats.org/officeDocument/2006/relationships" id="270" r:id="R84a4805606b547a1"/>
    <p:sldId xmlns:r="http://schemas.openxmlformats.org/officeDocument/2006/relationships" id="271" r:id="Re9daf39be23748de"/>
    <p:sldId xmlns:r="http://schemas.openxmlformats.org/officeDocument/2006/relationships" id="272" r:id="R505e3de942034aff"/>
    <p:sldId xmlns:r="http://schemas.openxmlformats.org/officeDocument/2006/relationships" id="273" r:id="R031c7249e2284c40"/>
    <p:sldId xmlns:r="http://schemas.openxmlformats.org/officeDocument/2006/relationships" id="274" r:id="R891816ec273b4477"/>
    <p:sldId xmlns:r="http://schemas.openxmlformats.org/officeDocument/2006/relationships" id="275" r:id="R7b0c71d7fad84185"/>
    <p:sldId xmlns:r="http://schemas.openxmlformats.org/officeDocument/2006/relationships" id="276" r:id="Rd9c9081ea0544d3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bad94aa826345a2" /><Relationship Type="http://schemas.openxmlformats.org/officeDocument/2006/relationships/slideMaster" Target="/ppt/slideMasters/slideMaster1.xml" Id="R80bf16576e584de1" /><Relationship Type="http://schemas.openxmlformats.org/officeDocument/2006/relationships/notesMaster" Target="/ppt/notesMasters/notesMaster1.xml" Id="Rfc84fd411bf24d3c" /><Relationship Type="http://schemas.openxmlformats.org/officeDocument/2006/relationships/presProps" Target="/ppt/presProps.xml" Id="R8eb7064ab4224fd2" /><Relationship Type="http://schemas.openxmlformats.org/officeDocument/2006/relationships/tableStyles" Target="/ppt/tableStyles.xml" Id="Rb784cbcf11514363" /><Relationship Type="http://schemas.openxmlformats.org/officeDocument/2006/relationships/slide" Target="/ppt/slides/slide1.xml" Id="R3fdb10606b124f3c" /><Relationship Type="http://schemas.openxmlformats.org/officeDocument/2006/relationships/slide" Target="/ppt/slides/slide2.xml" Id="R4f6714e2217d4dc7" /><Relationship Type="http://schemas.openxmlformats.org/officeDocument/2006/relationships/slide" Target="/ppt/slides/slide3.xml" Id="R2707f6834c8c4d68" /><Relationship Type="http://schemas.openxmlformats.org/officeDocument/2006/relationships/slide" Target="/ppt/slides/slide4.xml" Id="R9abcab328687465f" /><Relationship Type="http://schemas.openxmlformats.org/officeDocument/2006/relationships/slide" Target="/ppt/slides/slide5.xml" Id="Rde3322864d654e56" /><Relationship Type="http://schemas.openxmlformats.org/officeDocument/2006/relationships/slide" Target="/ppt/slides/slide6.xml" Id="R9826517a8e334a37" /><Relationship Type="http://schemas.openxmlformats.org/officeDocument/2006/relationships/slide" Target="/ppt/slides/slide7.xml" Id="R86cf2f7922f543b7" /><Relationship Type="http://schemas.openxmlformats.org/officeDocument/2006/relationships/slide" Target="/ppt/slides/slide8.xml" Id="R0e0a42b3f8a44c6c" /><Relationship Type="http://schemas.openxmlformats.org/officeDocument/2006/relationships/slide" Target="/ppt/slides/slide9.xml" Id="R89b9a92e43674de6" /><Relationship Type="http://schemas.openxmlformats.org/officeDocument/2006/relationships/slide" Target="/ppt/slides/slide10.xml" Id="Rfe1af20d78424d08" /><Relationship Type="http://schemas.openxmlformats.org/officeDocument/2006/relationships/slide" Target="/ppt/slides/slide11.xml" Id="Rd163a09b81cf4323" /><Relationship Type="http://schemas.openxmlformats.org/officeDocument/2006/relationships/slide" Target="/ppt/slides/slide12.xml" Id="Rc4fdf9cd29a14e7b" /><Relationship Type="http://schemas.openxmlformats.org/officeDocument/2006/relationships/slide" Target="/ppt/slides/slide13.xml" Id="Racc89007af514dd4" /><Relationship Type="http://schemas.openxmlformats.org/officeDocument/2006/relationships/slide" Target="/ppt/slides/slide14.xml" Id="Rd2be6b4eac994cb7" /><Relationship Type="http://schemas.openxmlformats.org/officeDocument/2006/relationships/slide" Target="/ppt/slides/slide15.xml" Id="R84a4805606b547a1" /><Relationship Type="http://schemas.openxmlformats.org/officeDocument/2006/relationships/slide" Target="/ppt/slides/slide16.xml" Id="Re9daf39be23748de" /><Relationship Type="http://schemas.openxmlformats.org/officeDocument/2006/relationships/slide" Target="/ppt/slides/slide17.xml" Id="R505e3de942034aff" /><Relationship Type="http://schemas.openxmlformats.org/officeDocument/2006/relationships/slide" Target="/ppt/slides/slide18.xml" Id="R031c7249e2284c40" /><Relationship Type="http://schemas.openxmlformats.org/officeDocument/2006/relationships/slide" Target="/ppt/slides/slide19.xml" Id="R891816ec273b4477" /><Relationship Type="http://schemas.openxmlformats.org/officeDocument/2006/relationships/slide" Target="/ppt/slides/slide20.xml" Id="R7b0c71d7fad84185" /><Relationship Type="http://schemas.openxmlformats.org/officeDocument/2006/relationships/slide" Target="/ppt/slides/slide21.xml" Id="Rd9c9081ea0544d3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12c8a34696f498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Academic Oncology Agent">
      <a:dk1>
        <a:srgbClr val="000000"/>
      </a:dk1>
      <a:lt1>
        <a:srgbClr val="FFFFFF"/>
      </a:lt1>
      <a:dk2>
        <a:srgbClr val="0B1F3A"/>
      </a:dk2>
      <a:lt2>
        <a:srgbClr val="E5E7EB"/>
      </a:lt2>
      <a:accent1>
        <a:srgbClr val="0B1F3A"/>
      </a:accent1>
      <a:accent2>
        <a:srgbClr val="0E8F8A"/>
      </a:accent2>
      <a:accent3>
        <a:srgbClr val="B7791F"/>
      </a:accent3>
      <a:accent4>
        <a:srgbClr val="A33A3A"/>
      </a:accent4>
      <a:accent5>
        <a:srgbClr val="5B5F97"/>
      </a:accent5>
      <a:accent6>
        <a:srgbClr val="2F855A"/>
      </a:accent6>
      <a:hlink>
        <a:srgbClr val="0E8F8A"/>
      </a:hlink>
      <a:folHlink>
        <a:srgbClr val="5B5F97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cademic Oncology Agen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a07482c8d148a3" /><Relationship Type="http://schemas.openxmlformats.org/officeDocument/2006/relationships/notesMaster" Target="/ppt/notesMasters/notesMaster1.xml" Id="R705065b7726e446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9b4a282274f4407" /><Relationship Type="http://schemas.openxmlformats.org/officeDocument/2006/relationships/notesMaster" Target="/ppt/notesMasters/notesMaster1.xml" Id="R08e44d78fa484a0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e4a563c9d94a01" /><Relationship Type="http://schemas.openxmlformats.org/officeDocument/2006/relationships/notesMaster" Target="/ppt/notesMasters/notesMaster1.xml" Id="R2f48b128cfc7447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d635d8c3615441c" /><Relationship Type="http://schemas.openxmlformats.org/officeDocument/2006/relationships/notesMaster" Target="/ppt/notesMasters/notesMaster1.xml" Id="Rb5c2aec553cc4b6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2cd448bf7284858" /><Relationship Type="http://schemas.openxmlformats.org/officeDocument/2006/relationships/notesMaster" Target="/ppt/notesMasters/notesMaster1.xml" Id="R77a5495c7d4944b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d40ef0ea40541d8" /><Relationship Type="http://schemas.openxmlformats.org/officeDocument/2006/relationships/notesMaster" Target="/ppt/notesMasters/notesMaster1.xml" Id="R97d72f2d6d59414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dea72bfd7d84c18" /><Relationship Type="http://schemas.openxmlformats.org/officeDocument/2006/relationships/notesMaster" Target="/ppt/notesMasters/notesMaster1.xml" Id="R48b7b8e398604bd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c97d464470e4329" /><Relationship Type="http://schemas.openxmlformats.org/officeDocument/2006/relationships/notesMaster" Target="/ppt/notesMasters/notesMaster1.xml" Id="R16e49e188c47441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6f34873f5e74245" /><Relationship Type="http://schemas.openxmlformats.org/officeDocument/2006/relationships/notesMaster" Target="/ppt/notesMasters/notesMaster1.xml" Id="Re0881e35a56444a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e20fcc5a6d84bc8" /><Relationship Type="http://schemas.openxmlformats.org/officeDocument/2006/relationships/notesMaster" Target="/ppt/notesMasters/notesMaster1.xml" Id="R43b11260dde6469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8a0322879894549" /><Relationship Type="http://schemas.openxmlformats.org/officeDocument/2006/relationships/notesMaster" Target="/ppt/notesMasters/notesMaster1.xml" Id="Rb64b7d20880f4ed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5ac6023ed984810" /><Relationship Type="http://schemas.openxmlformats.org/officeDocument/2006/relationships/notesMaster" Target="/ppt/notesMasters/notesMaster1.xml" Id="R766cf35b5f5746f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320c0a5f8c24d99" /><Relationship Type="http://schemas.openxmlformats.org/officeDocument/2006/relationships/notesMaster" Target="/ppt/notesMasters/notesMaster1.xml" Id="Rc4c15c3b5cd74ce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8bd27d6c448410e" /><Relationship Type="http://schemas.openxmlformats.org/officeDocument/2006/relationships/notesMaster" Target="/ppt/notesMasters/notesMaster1.xml" Id="Rf738c5426f0d4cb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3c9d05db26a4da9" /><Relationship Type="http://schemas.openxmlformats.org/officeDocument/2006/relationships/notesMaster" Target="/ppt/notesMasters/notesMaster1.xml" Id="R10b19988699240c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e1834799e6d47b2" /><Relationship Type="http://schemas.openxmlformats.org/officeDocument/2006/relationships/notesMaster" Target="/ppt/notesMasters/notesMaster1.xml" Id="Raf92b788f1bc42e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823f54999f94f31" /><Relationship Type="http://schemas.openxmlformats.org/officeDocument/2006/relationships/notesMaster" Target="/ppt/notesMasters/notesMaster1.xml" Id="R87915935be5a41f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98d5323c814477e" /><Relationship Type="http://schemas.openxmlformats.org/officeDocument/2006/relationships/notesMaster" Target="/ppt/notesMasters/notesMaster1.xml" Id="Rbbabaeb993584f0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ea9f36fadd444f1" /><Relationship Type="http://schemas.openxmlformats.org/officeDocument/2006/relationships/notesMaster" Target="/ppt/notesMasters/notesMaster1.xml" Id="R8db7816859a447b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f2b2dba1b1e46d4" /><Relationship Type="http://schemas.openxmlformats.org/officeDocument/2006/relationships/notesMaster" Target="/ppt/notesMasters/notesMaster1.xml" Id="R7e22c6667fad4cd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84d2c3fc2dd480f" /><Relationship Type="http://schemas.openxmlformats.org/officeDocument/2006/relationships/notesMaster" Target="/ppt/notesMasters/notesMaster1.xml" Id="R842a5a311e9444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建议讲述时间：40秒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各位老师好，我今天汇报的题目是《智能体在肿瘤学领域中的应用现状及未来展望》。这次报告不把重点放在泛泛介绍 ChatGPT，也不讨论 AI 替代医生，而是聚焦 Agent 如何把指南、论文、病历、分子检测和临床试验信息组织成可审阅的证据工作流。接下来我会先讲为什么肿瘤学需要 Agent，再看近年研究做到什么程度，最后用一个低风险的 MDT Evidence Brief 演示概念，说明这类系统应该如何审慎设计和使用。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建议讲述时间：1分钟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肿瘤学的复杂性不在于单个问题难回答，而在于不同来源的信息需要连续整合。一个患者的诊疗讨论往往同时涉及病历、影像、病理、分子检测、既往治疗、指南、论文、药品标签和临床试验。Agent 的价值不是直接给治疗决定，而是把检索、核对、结构化输出和证据引用连接成流程，把证据链保留下来，供医生和 MDT 审阅。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建议讲述时间：1分钟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这里我想先区分 LLM、Chatbot 和 Agent。普通 LLM 或 Chatbot 主要是根据输入生成回答，擅长总结、解释和改写，但容易受知识过时和不可核验影响。Agent 则是在 LLM 外面加上任务规划、工具调用、检索、工作流控制和结构化输出。面向医学场景，我更愿意把 Agent 理解为受约束的证据整理流程，而不是更像医生的聊天框。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建议讲述时间：1分15秒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从技术上看，肿瘤学 Agent 通常由几个部件组成。RAG 负责从指南、论文和数据库中检索证据，降低模型只凭记忆回答的风险；Tool Use 负责调用 PubMed、ClinicalTrials.gov、OncoKB 或院内系统；Workflow 把病例整理、问题拆解、证据检索和摘要生成固定成节点；记忆和 EHR 连接用于纵向病程信息；多智能体则可以模拟影像、病理、分子和药物安全等不同角色。但关键原则始终是先检索、再生成，先引用、再解释。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建议讲述时间：1分钟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如果把不同应用按临床成熟度和演示安全性放在一张图上，可以看到并不是所有场景都适合先展示。自动治疗规划和多模态诊断目前风险较高，更适合放在未来研究中讨论。相对稳妥的是指南和证据检索、文献追踪、MDT 会前摘要、临床试验初筛和分子报告解释。这些场景可以使用模拟病例和公开资料，输出也更容易做到可引用、可复核。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建议讲述时间：1分30秒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近年的研究给出的信号比较一致：裸 LLM 在精准肿瘤治疗推荐中可靠性仍然不足，但加入检索、工具调用和结构化流程后，表现会明显改善。例如指南检索、临床试验匹配和工具增强的多模态病例分析都显示出潜力。与此同时，系统综述也提示总体准确率和评价体系仍有限，安全性、清晰度、潜在伤害和真实世界泛化还需要进一步验证。因此现阶段更适合把 Agent 定位为 evidence brief、pre-screening 和会前准备工具。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建议讲述时间：1分钟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第一个比较适合先落地的场景是指南与证据检索。它的流程是先把病例转成明确的临床问题，再从指南、PubMed、药品标签和知识库中检索证据，然后区分指南推荐、临床试验、回顾性研究和专家意见，最后生成 Evidence Brief。需要强调的是，RAG 不等于事实保证，检索库质量、更新时间、证据适用人群和引用完整性都会影响输出，所以结论必须保留适用条件和人工复核点。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建议讲述时间：1分15秒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第二个场景是 MDT 辅助。MDT 本身就是一个多学科信息整合过程，所以 Agent 最适合做会前准备和会后记录。会前可以帮助标准化病例摘要、生成关键问题清单、提醒缺失检查并进行证据和试验初筛；会中可以快速定位证据来源、记录分歧和不确定性；会后可以辅助结构化归档和随访提醒。这里仍然要强调，它不能替代 MDT 判断，只是提高讨论前的信息密度。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建议讲述时间：1分15秒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第三个场景是临床试验匹配。这个方向的价值比较清晰，因为试验匹配本来就耗时，入排标准复杂，而且信息分散。Agent 可以先抽取患者特征，再检索候选试验，逐条判断 inclusion 和 exclusion，并输出候选列表、匹配理由、排除原因和需要人工核实的内容。TrialGPT 和 TrialMatchAI 这类研究说明了效率提升和检索覆盖的潜力，但最终是否适合入组必须由研究者和临床团队确认。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建议讲述时间：1分钟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第四个场景是精准肿瘤学中的分子报告解释。这个方向很有价值，但也最容易被过度简化。一个变异不等于一定有药，一个靶点也不等于患者一定适合某种治疗。Agent 应该做的是把肿瘤类型、分期、NGS 或 IHC 结果、既往治疗和合并症放在一起，结合 OncoKB、指南、药品标签和临床试验信息，输出变异解释、证据等级、潜在方向和不确定性，而不是直接形成处方。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建议讲述时间：1分钟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第五个方向是多模态 Agent。未来的肿瘤学系统可能会同时整合影像、病理、基因组和文本证据，由一个协调 Agent 组织不同模型的输出。但这仍处于早期阶段。真实临床使用前，需要解决多模态输入质量控制、跨模态冲突处理、外部验证、可解释性、责任归属和网络安全问题。因此我把多模态 Agent 作为未来方向，而不是本次演示的重点。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建议讲述时间：1分钟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面对严谨的医学听众，边界意识非常重要。我们可以说 Agent 能辅助证据检索、病例摘要、MDT 讨论清单生成和临床试验预筛；但不能说它能替代医生或 MDT 决策，不能说它可以自动诊断或自动治疗规划，也不能保证没有幻觉和偏倚。更合适的口径是：学术演示、临床证据辅助、MDT 信息整理助手。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建议讲述时间：1分钟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基于前面的分析，我建议现场演示选择 MDT 证据整合 Agent。它比单纯文献追踪更贴近临床讨论，也比自动治疗规划更安全。输入模拟病例后，系统输出关键问题、证据摘要、临床试验线索和 MDT 讨论清单。这个场景既能连接黑色素瘤会议语境，又不会越过诊疗决策边界。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建议讲述时间：55秒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这个演示应用可以命名为 Onco-MDT Evidence Brief，定位是面向 MDT 会前准备的肿瘤学证据整理助手。左侧输入模拟病例和关键临床问题，右侧输出 Evidence Brief、引用来源、待核实项和免责声明。这里强调两点：第一，不输入真实患者信息；第二，输出只作为学术研究和临床讨论辅助，不作为诊断或治疗建议。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建议讲述时间：1分15秒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 Dify 这类可视化平台中，可以把这个演示拆成几个节点：病例输入、问题拆解、知识检索、证据筛选和结构化输出。降幻觉设计非常关键：如果没有检索证据，系统必须回答证据不足或需人工核实；输出模板固定为结论、证据、适用条件、限制、不确定项和引用；临床表达使用供讨论，而不是推荐。这样可以把生成能力限制在证据整理流程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建议讲述时间：1分钟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为了连接本次会议语境，演示可以使用一个黑色素瘤模拟病例。例如：58 岁女性，转移性黑色素瘤，BRAF V600E 阳性，PD-1 单药后进展，ECOG 1。我们不让系统回答下一步怎么治，而是问：下一步 MDT 需要讨论哪些证据与试验方向？这样能体现 Agent 的信息整理价值，同时避免给出直接治疗建议。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建议讲述时间：1分钟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预期输出应该是 Evidence Brief，而不是治疗医嘱。它包括病例摘要、关键临床问题、证据摘要、临床试验线索、MDT 讨论清单和免责声明。这里的核心表达是：这不是 AI 给方案，而是 AI 帮 MDT 把讨论材料准备得更完整。真实应用前，还需要接入可追溯知识库、检索日志、评价集和医生审核流程。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建议讲述时间：1分15秒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从 Demo 到真实临床应用，中间差的不只是工程实现，而是完整验证体系。数据层要处理去标识化、权限、来源质量和偏倚；模型层要验证事实性、引用准确性、鲁棒性和漂移；临床层要有医生评价、真实病例外部验证和流程指标；治理层要明确责任归属、审计日志、监管路径和网络安全。原则上，人类负责最终判断，系统负责可追踪的信息组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建议讲述时间：1分钟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未来肿瘤学 Agent 的方向，不是更强的聊天，而是更可靠的临床知识基础设施。它会从单次回答转向工作流，从单模型转向工具链，从平均准确率转向临床指标，从研究原型转向可监管系统。真正有价值的 Oncology Agent，应该成为可审计的证据协作者。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建议讲述时间：1分钟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最后总结四点。第一，肿瘤学 Agent 的合理定位是证据整合与流程增效。第二，RAG、工具调用和工作流能改善裸 LLM 的可靠性。第三，最适合先落地和演示的是 MDT Evidence Brief 与试验预筛。第四，真实临床应用必须经过验证、审计、监管与人类总控。我的核心观点是：肿瘤学 Agent 不应替代医生，而应帮助医生更高效、更透明地组织证据。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建议讲述时间：答疑时使用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这一页是参考文献节选，正文页底部也保留了关键来源。汇报时不需要逐条阅读。如果后续讨论涉及证据来源，可以回到这里，分别对应系统综述、工具增强 Agent、TrialGPT 和 TrialMatchAI、RAG 研究、MDT 试点以及 WHO 和 FDA 的伦理监管框架。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ee0e60241540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a42aefdb26b4616" /><Relationship Type="http://schemas.openxmlformats.org/officeDocument/2006/relationships/slideLayout" Target="/ppt/slideLayouts/slideLayout1.xml" Id="R248ab13dbda440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8ab13dbda440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Academic Oncology Agent">
      <a:dk1>
        <a:srgbClr val="000000"/>
      </a:dk1>
      <a:lt1>
        <a:srgbClr val="FFFFFF"/>
      </a:lt1>
      <a:dk2>
        <a:srgbClr val="0B1F3A"/>
      </a:dk2>
      <a:lt2>
        <a:srgbClr val="E5E7EB"/>
      </a:lt2>
      <a:accent1>
        <a:srgbClr val="0B1F3A"/>
      </a:accent1>
      <a:accent2>
        <a:srgbClr val="0E8F8A"/>
      </a:accent2>
      <a:accent3>
        <a:srgbClr val="B7791F"/>
      </a:accent3>
      <a:accent4>
        <a:srgbClr val="A33A3A"/>
      </a:accent4>
      <a:accent5>
        <a:srgbClr val="5B5F97"/>
      </a:accent5>
      <a:accent6>
        <a:srgbClr val="2F855A"/>
      </a:accent6>
      <a:hlink>
        <a:srgbClr val="0E8F8A"/>
      </a:hlink>
      <a:folHlink>
        <a:srgbClr val="5B5F97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cademic Oncology Agen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060dd7a2124f9d" /><Relationship Type="http://schemas.openxmlformats.org/officeDocument/2006/relationships/notesSlide" Target="/ppt/notesSlides/notesSlide1.xml" Id="Rce26373f20524c1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a754f7a2c64a8d" /><Relationship Type="http://schemas.openxmlformats.org/officeDocument/2006/relationships/notesSlide" Target="/ppt/notesSlides/notesSlide2.xml" Id="Rb12976744c884f8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ca2d53b6ef4b2a" /><Relationship Type="http://schemas.openxmlformats.org/officeDocument/2006/relationships/notesSlide" Target="/ppt/notesSlides/notesSlide3.xml" Id="R37a9a8d7f11043c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f3a0f1c6004060" /><Relationship Type="http://schemas.openxmlformats.org/officeDocument/2006/relationships/notesSlide" Target="/ppt/notesSlides/notesSlide4.xml" Id="Ra8b64cb336864ed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05e0af456c4088" /><Relationship Type="http://schemas.openxmlformats.org/officeDocument/2006/relationships/notesSlide" Target="/ppt/notesSlides/notesSlide5.xml" Id="R03c6ca9b81764f5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88d3f743a44d6f" /><Relationship Type="http://schemas.openxmlformats.org/officeDocument/2006/relationships/notesSlide" Target="/ppt/notesSlides/notesSlide6.xml" Id="R230ecef3f69f4a6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71b3686cf64ac4" /><Relationship Type="http://schemas.openxmlformats.org/officeDocument/2006/relationships/notesSlide" Target="/ppt/notesSlides/notesSlide7.xml" Id="Recaa591eab7b48b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a21d64e2454f2d" /><Relationship Type="http://schemas.openxmlformats.org/officeDocument/2006/relationships/notesSlide" Target="/ppt/notesSlides/notesSlide8.xml" Id="R0626791ef47e46c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51d861f3f44449" /><Relationship Type="http://schemas.openxmlformats.org/officeDocument/2006/relationships/notesSlide" Target="/ppt/notesSlides/notesSlide9.xml" Id="Rb814655567674d2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3734729bd2434a" /><Relationship Type="http://schemas.openxmlformats.org/officeDocument/2006/relationships/notesSlide" Target="/ppt/notesSlides/notesSlide10.xml" Id="Rcfa66b4825974f7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53239741d24e2d" /><Relationship Type="http://schemas.openxmlformats.org/officeDocument/2006/relationships/notesSlide" Target="/ppt/notesSlides/notesSlide11.xml" Id="R90d2a55ce6dc434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d10e090c98461d" /><Relationship Type="http://schemas.openxmlformats.org/officeDocument/2006/relationships/notesSlide" Target="/ppt/notesSlides/notesSlide12.xml" Id="R79c52ea67ae3486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9fc873bd6a41ef" /><Relationship Type="http://schemas.openxmlformats.org/officeDocument/2006/relationships/notesSlide" Target="/ppt/notesSlides/notesSlide13.xml" Id="Rf671995cce144da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49c040b2ae459c" /><Relationship Type="http://schemas.openxmlformats.org/officeDocument/2006/relationships/notesSlide" Target="/ppt/notesSlides/notesSlide14.xml" Id="R00ee5374faac434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289665ed3a4dd5" /><Relationship Type="http://schemas.openxmlformats.org/officeDocument/2006/relationships/notesSlide" Target="/ppt/notesSlides/notesSlide15.xml" Id="Ra2fd427c32e04d5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3fc5809a2a4f72" /><Relationship Type="http://schemas.openxmlformats.org/officeDocument/2006/relationships/notesSlide" Target="/ppt/notesSlides/notesSlide16.xml" Id="R63526bbf9d1049f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de75bf35db42ff" /><Relationship Type="http://schemas.openxmlformats.org/officeDocument/2006/relationships/notesSlide" Target="/ppt/notesSlides/notesSlide17.xml" Id="Rcb899a22e51f4ac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f4966411294fc9" /><Relationship Type="http://schemas.openxmlformats.org/officeDocument/2006/relationships/notesSlide" Target="/ppt/notesSlides/notesSlide18.xml" Id="R799611c33b0e47b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b969cd74994adf" /><Relationship Type="http://schemas.openxmlformats.org/officeDocument/2006/relationships/notesSlide" Target="/ppt/notesSlides/notesSlide19.xml" Id="R6aa9c2fd1ac544d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8433a656254445" /><Relationship Type="http://schemas.openxmlformats.org/officeDocument/2006/relationships/notesSlide" Target="/ppt/notesSlides/notesSlide20.xml" Id="Rfe40dc06689c44f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7f6ec6347f404e" /><Relationship Type="http://schemas.openxmlformats.org/officeDocument/2006/relationships/notesSlide" Target="/ppt/notesSlides/notesSlide21.xml" Id="R446013604d88423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71B513-0FA7-479C-8254-5C3FA713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52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solidFill>
              <a:srgbClr val="0B1F3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9B98A0-EE0C-4155-B18F-D12E70480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0">
            <a:solidFill>
              <a:srgbClr val="0E8F8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BB7BE7-755E-45C4-8B6A-CC679A61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04850"/>
            <a:ext cx="16192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DF7F5"/>
          </a:solidFill>
          <a:ln xmlns:a="http://schemas.openxmlformats.org/drawingml/2006/main" w="9525">
            <a:solidFill>
              <a:srgbClr val="DDF7F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E65D3C-A350-410D-B935-35141D0FE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620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F3A"/>
                </a:solidFill>
              </a:defRPr>
            </a:pPr>
            <a:r>
              <a:rPr sz="975" b="1">
                <a:solidFill>
                  <a:srgbClr val="0B1F3A"/>
                </a:solidFill>
              </a:rPr>
              <a:t>20分钟学术汇报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D4A8DF-003E-44DA-92EA-4F2DA7BD4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04950"/>
            <a:ext cx="7239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1F3A"/>
                </a:solidFill>
              </a:defRPr>
            </a:pPr>
            <a:r>
              <a:rPr sz="3900" b="1">
                <a:solidFill>
                  <a:srgbClr val="0B1F3A"/>
                </a:solidFill>
              </a:rPr>
              <a:t>智能体在肿瘤学领域中的</a:t>
            </a:r>
          </a:p>
          <a:p xmlns:a="http://schemas.openxmlformats.org/drawingml/2006/main">
            <a:pPr algn="l">
              <a:defRPr sz="3900" b="1">
                <a:solidFill>
                  <a:srgbClr val="0B1F3A"/>
                </a:solidFill>
              </a:defRPr>
            </a:pPr>
            <a:r>
              <a:rPr sz="3900" b="1">
                <a:solidFill>
                  <a:srgbClr val="0B1F3A"/>
                </a:solidFill>
              </a:rPr>
              <a:t>应用现状及未来展望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592BA8-FA98-47F0-A1D9-9EFBCA36D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5755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74151"/>
                </a:solidFill>
              </a:defRPr>
            </a:pPr>
            <a:r>
              <a:rPr sz="1800" b="0">
                <a:solidFill>
                  <a:srgbClr val="374151"/>
                </a:solidFill>
              </a:rPr>
              <a:t>从 LLM 到可信证据工作流：研究进展、应用场景与演示概念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074E11-1E91-49C2-ABD1-3BEC92EE4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530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中国抗癌协会黑色素瘤专委会第二届黑色素瘤学术大会</a:t>
            </a:r>
          </a:p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分会场4：黑色素瘤诊疗新进展专题分会场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B5C15D-1D82-4551-B248-AA194E733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295400"/>
            <a:ext cx="2857500" cy="3619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689555-65FA-482D-B445-BD233CA6D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6954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汇报主线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F808EC-73E9-4353-90F3-E5CDE5670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286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74F168-E5C8-41B8-AF30-3D828D7D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2098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肿瘤学为什么需要 Agent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4FA993-00DC-4855-8182-0F0AB5386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800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F5F147-184E-4552-851C-3025BA041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7241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前沿证据做到什么程度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CD8EDD-42B7-4E91-B874-E83CE660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314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FAF036-79D1-4CA7-9A6C-C379B1588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2385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哪些场景适合先落地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26E580-3946-4897-BBE0-25265658A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829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71510A-E427-4D24-A84F-F263BBBFF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7528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一个低风险演示概念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997659-E689-4EEA-8474-C971AFB93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531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33A3A"/>
                </a:solidFill>
              </a:defRPr>
            </a:pPr>
            <a:r>
              <a:rPr sz="975" b="0">
                <a:solidFill>
                  <a:srgbClr val="A33A3A"/>
                </a:solidFill>
              </a:rPr>
              <a:t>仅供学术研究与临床讨论辅助，不作为诊断或治疗建议。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E37496-7B9D-4EB6-A709-52CC81F4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8F8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3ACA50-1C1A-4C2F-A98C-3DC7B40C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517EBB-33F3-459B-A36A-F51BF065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871513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394E9D-B241-473A-835E-5C8AD88B7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982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肿瘤学需要的是证据整合型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70FB88-12DA-4B05-AB6B-4FB37BDF4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48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8F8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41DFD9-4E56-4DAF-8EC9-1749887D7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核心判断：肿瘤学的难点不是“问答”，而是跨数据、跨学科、跨证据等级的连续整合。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B43FFE-D63B-459B-9504-63F2FF989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32766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0031F4-58D1-4786-8F26-2CE577388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95B"/>
          </a:solidFill>
          <a:ln xmlns:a="http://schemas.openxmlformats.org/drawingml/2006/main" w="0">
            <a:solidFill>
              <a:srgbClr val="12395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C99936-5365-4E7F-BE50-ABBE45BD1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85950"/>
            <a:ext cx="2819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395B"/>
                </a:solidFill>
              </a:defRPr>
            </a:pPr>
            <a:r>
              <a:rPr sz="975" b="1">
                <a:solidFill>
                  <a:srgbClr val="12395B"/>
                </a:solidFill>
              </a:rPr>
              <a:t>临床复杂性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529D4C-18D0-4ADD-BF3E-2FBCDBD83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526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信息源高度异构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763A4F-D9A2-4D87-BF10-07ECE99A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71750"/>
            <a:ext cx="2819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74151"/>
                </a:solidFill>
              </a:defRPr>
            </a:pPr>
            <a:r>
              <a:rPr sz="1200" b="0">
                <a:solidFill>
                  <a:srgbClr val="374151"/>
                </a:solidFill>
              </a:rPr>
              <a:t>病历、影像、病理、分子检测、既往治疗、指南、论文、药品标签与临床试验同时参与决策。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36BDC2-A627-42DD-BF30-1F20836B1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695450"/>
            <a:ext cx="32766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BB4E02-0F1A-4826-848E-8935A2D39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6954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0">
            <a:solidFill>
              <a:srgbClr val="0E8F8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C65B98-49D2-4DE5-89AE-25842097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885950"/>
            <a:ext cx="2819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8F8A"/>
                </a:solidFill>
              </a:defRPr>
            </a:pPr>
            <a:r>
              <a:rPr sz="975" b="1">
                <a:solidFill>
                  <a:srgbClr val="0E8F8A"/>
                </a:solidFill>
              </a:rPr>
              <a:t>知识更新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469D68-EE3E-4A54-B978-42E0190FF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526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证据不断刷新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B95190-D233-43A6-A4FA-F934335F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71750"/>
            <a:ext cx="2819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74151"/>
                </a:solidFill>
              </a:defRPr>
            </a:pPr>
            <a:r>
              <a:rPr sz="1200" b="0">
                <a:solidFill>
                  <a:srgbClr val="374151"/>
                </a:solidFill>
              </a:rPr>
              <a:t>靶向治疗、免疫治疗、联合方案和适应证变化快，单次记忆型模型容易过时。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584C1C-06FA-45F1-8CD4-608ED3838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95450"/>
            <a:ext cx="32766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B3C422-0C9E-43E9-891D-7DB0C18AD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954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5F97"/>
          </a:solidFill>
          <a:ln xmlns:a="http://schemas.openxmlformats.org/drawingml/2006/main" w="0">
            <a:solidFill>
              <a:srgbClr val="5B5F9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B5BBFE-26EB-47F6-A58B-3A091E9A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885950"/>
            <a:ext cx="2819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5F97"/>
                </a:solidFill>
              </a:defRPr>
            </a:pPr>
            <a:r>
              <a:rPr sz="975" b="1">
                <a:solidFill>
                  <a:srgbClr val="5B5F97"/>
                </a:solidFill>
              </a:rPr>
              <a:t>协作流程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DFB94C-E7D6-4B1B-9936-DE96A1A6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526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MDT 是天然多智能体场景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073FD9-DAF2-44EE-A0B6-9C03C5B2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71750"/>
            <a:ext cx="2819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74151"/>
                </a:solidFill>
              </a:defRPr>
            </a:pPr>
            <a:r>
              <a:rPr sz="1200" b="0">
                <a:solidFill>
                  <a:srgbClr val="374151"/>
                </a:solidFill>
              </a:rPr>
              <a:t>肿瘤内科、外科、放疗、影像、病理、遗传咨询与研究护士需要共享问题清单与证据摘要。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84D478-E85D-40CD-BD7B-59AC2B3A4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576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本报告的判断：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26CB61-6A11-4D0A-9632-0812B0A52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91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E12B3E-5DD9-41C7-8814-6229103B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14850"/>
            <a:ext cx="9601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Agent 的价值：把“检索、核对、结构化输出、引用证据”连成流程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7EAE9D-0B6A-47B0-93CF-18F1C1101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48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175B58-74EA-46D5-A676-D0F43CE5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72050"/>
            <a:ext cx="9601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临床定位：证据辅助与会前准备，而不是自动给出治疗决定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35C113-5499-4167-A152-03A9516B5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505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102528-37D2-42DC-8F40-F593E99B5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429250"/>
            <a:ext cx="9601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风险意识：输入不全、证据等级不清、幻觉与责任边界必须显式处理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06DD8D-5427-446C-BE64-A3A393B94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8F8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CD5608-5B68-426F-96D0-52F226629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</a:defRPr>
            </a:pPr>
            <a:r>
              <a:rPr sz="750" b="0">
                <a:solidFill>
                  <a:srgbClr val="6B7280"/>
                </a:solidFill>
              </a:rPr>
              <a:t>Nature AI agents in oncology collection, 2025; Truhn et al., npj Precision Oncology, 2024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791377-FC0C-4F60-A3AB-D387A1FE2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1472987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BA0FE6-B704-4A0F-ADDD-C32F8089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982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Agent 不是更会聊天，而是能完成流程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AA5687-9B4E-4C82-83D5-1EE71616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48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8F8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DE8ED9-62DD-47BD-BBB6-916C6BCD4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从 Chatbot 到 Agent，关键变化是：模型开始调用工具、执行步骤并保留证据。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E55F5C-310D-48BC-9B10-041A5EA83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4429125" cy="2895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60FC75-D764-41B2-8363-42AD38EC5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621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3A"/>
                </a:solidFill>
              </a:defRPr>
            </a:pPr>
            <a:r>
              <a:rPr sz="2100" b="1">
                <a:solidFill>
                  <a:srgbClr val="0B1F3A"/>
                </a:solidFill>
              </a:rPr>
              <a:t>Chatbot /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20B051-0DE5-4522-AC16-0D8F30F9A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09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992453-52A3-41EC-A3CD-247A5E32B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33650"/>
            <a:ext cx="3505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输入：自然语言问题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3448E4-91D2-4EFE-A93A-30B9E4561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19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735F1C-FAF8-47E6-914B-98B35C975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43225"/>
            <a:ext cx="3505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输出：自然语言回答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F3A9B9-04AB-4A9B-A729-979062DFC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29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D49AA6-A09A-431D-81AD-CEF7C054D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52800"/>
            <a:ext cx="3505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强项：总结、解释、改写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130CD3-75EB-4D2D-BFC5-AC7BF5BFF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38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6F5AF9-D988-4765-A95C-915750434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62375"/>
            <a:ext cx="3505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弱项：知识过时、无法核验、难以执行多步任务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1141F4-8E4E-4AFD-86AA-D76FBB30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714500"/>
            <a:ext cx="4429125" cy="2895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DDF7F5"/>
          </a:solidFill>
          <a:ln xmlns:a="http://schemas.openxmlformats.org/drawingml/2006/main" w="9525">
            <a:solidFill>
              <a:srgbClr val="BEEB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7A2AF6-24EA-425D-B487-80FDBC423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9621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3A"/>
                </a:solidFill>
              </a:defRPr>
            </a:pPr>
            <a:r>
              <a:rPr sz="2100" b="1">
                <a:solidFill>
                  <a:srgbClr val="0B1F3A"/>
                </a:solidFill>
              </a:rPr>
              <a:t>LLM Agent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7C4CB8-9706-465A-AFA8-C84BA64A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609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982C64-B9CE-4C3E-9648-80B71C75D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33650"/>
            <a:ext cx="3505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先拆解任务，再选择工具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95A78E-C096-41CB-83F0-622E6AD45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019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E1ED8B-7F52-4214-83EB-482B43B4B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943225"/>
            <a:ext cx="3505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检索指南、论文、数据库与试验信息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BA3F32-2C91-4E96-BDD0-F125FD51B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429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2ECC69-06DA-4AD0-B8CE-158DC2F3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352800"/>
            <a:ext cx="3505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按模板输出 Evidence Brief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934670-CC08-4EE2-AE85-50B8316BA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38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95BC11-082E-443E-A31A-5D7560EA0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762375"/>
            <a:ext cx="3505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把引用、限制和需人工判断的问题显式列出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57F70E-555C-4127-94AF-B7934E64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05100"/>
            <a:ext cx="89535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0">
            <a:solidFill>
              <a:srgbClr val="0E8F8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A8A809-5BAE-409D-A47B-2CE303FE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766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E8F8A"/>
                </a:solidFill>
              </a:defRPr>
            </a:pPr>
            <a:r>
              <a:rPr sz="1200" b="1">
                <a:solidFill>
                  <a:srgbClr val="0E8F8A"/>
                </a:solidFill>
              </a:rPr>
              <a:t>能力边界变化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B9B2E5-B877-43D9-AB29-1E205F68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219700"/>
            <a:ext cx="9791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面向医学听众的一句话：Agent 不是“更像医生的聊天框”，而是“受约束的证据整理流程”。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AF0141-86C4-4B36-BA0E-C4A1A5748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8F8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9140AC-7C79-4A77-8348-E23C4D783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</a:defRPr>
            </a:pPr>
            <a:r>
              <a:rPr sz="750" b="0">
                <a:solidFill>
                  <a:srgbClr val="6B7280"/>
                </a:solidFill>
              </a:rPr>
              <a:t>Nature AI agents in oncology collection, 2025; Hao et al., npj Digital Medicine, 2025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40E9BD-2264-492B-82D9-B0761D464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303657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F30A54-F558-4620-B2A3-C4AD6C1CF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982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技术底座：把生成能力约束在证据流程里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724FDA-251B-4C36-A0E3-7879BD799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48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8F8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799735-3F19-452C-8999-AB9A9C16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Agent 的每个技术部件都应对应一个临床信息痛点。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A8F006-7487-481C-9C53-E25ABBD4E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764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3DCAF7-D2D4-40E1-9974-28E4801E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1133E1-D91C-4C40-82A3-4DF5A9E0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619250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RAG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155889-D758-4D14-96C5-6469AC15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628775"/>
            <a:ext cx="7486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74151"/>
                </a:solidFill>
              </a:defRPr>
            </a:pPr>
            <a:r>
              <a:rPr sz="1350" b="0">
                <a:solidFill>
                  <a:srgbClr val="374151"/>
                </a:solidFill>
              </a:rPr>
              <a:t>从指南、论文、药品标签和数据库检索证据，降低模型只凭记忆回答的风险。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0F50FF-91B0-465D-BB4E-21EA03B86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7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3B03EA-6DC6-4056-A09C-BD5A62880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431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7F2943-7847-4D90-BCE1-D4624D454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00300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Tool Use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0FB8B4-9FB3-4400-B3A2-824ED4467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409825"/>
            <a:ext cx="7486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74151"/>
                </a:solidFill>
              </a:defRPr>
            </a:pPr>
            <a:r>
              <a:rPr sz="1350" b="0">
                <a:solidFill>
                  <a:srgbClr val="374151"/>
                </a:solidFill>
              </a:rPr>
              <a:t>调用 PubMed、ClinicalTrials.gov、OncoKB、计算器或院内系统，获得可追踪结果。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F089C7-9B67-41DF-ACF0-B492BE720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FECE16-234D-43DF-802F-B2407CCFF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2422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BA8674-4F9E-42C6-AB66-1CCE234C4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81350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Workflow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D8AB19-CFC5-4F79-8B06-69A09D0F9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190875"/>
            <a:ext cx="7486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74151"/>
                </a:solidFill>
              </a:defRPr>
            </a:pPr>
            <a:r>
              <a:rPr sz="1350" b="0">
                <a:solidFill>
                  <a:srgbClr val="374151"/>
                </a:solidFill>
              </a:rPr>
              <a:t>把病例整理、问题拆解、证据检索、摘要生成和人工复核拆成固定节点。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62D040-7D3D-4636-9209-15A7993E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195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C9AF0A-7AD4-4997-B37E-7E20EAEA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052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E0A3BE-50C9-4F01-8BC2-A545E4FCF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62400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Memory / EHR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A6BD77-049A-43EB-A142-63A0A5FEC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971925"/>
            <a:ext cx="7486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74151"/>
                </a:solidFill>
              </a:defRPr>
            </a:pPr>
            <a:r>
              <a:rPr sz="1350" b="0">
                <a:solidFill>
                  <a:srgbClr val="374151"/>
                </a:solidFill>
              </a:rPr>
              <a:t>记录上下文与既往治疗线索；真实应用必须处理隐私、权限与审计。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E4F6F9-C06A-4522-A8CF-5B814A62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00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5E46ED-B173-4858-9BDD-FF583CBBE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8632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16F086-334B-4178-982A-69246AA41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743450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Multi-Agent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BBA205-7C82-4AF6-B6B3-90D9A6D66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752975"/>
            <a:ext cx="7486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74151"/>
                </a:solidFill>
              </a:defRPr>
            </a:pPr>
            <a:r>
              <a:rPr sz="1350" b="0">
                <a:solidFill>
                  <a:srgbClr val="374151"/>
                </a:solidFill>
              </a:rPr>
              <a:t>把影像、病理、分子、药物安全和协调角色分开，但仍需人类总控。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A2A4F7-153B-4AF8-B28A-524F449A2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72050"/>
            <a:ext cx="23812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6D98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C35651-3B59-4986-9AAA-6252FD8E8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1244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7791F"/>
                </a:solidFill>
              </a:defRPr>
            </a:pPr>
            <a:r>
              <a:rPr sz="1275" b="1">
                <a:solidFill>
                  <a:srgbClr val="B7791F"/>
                </a:solidFill>
              </a:rPr>
              <a:t>关键约束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072539-1540-4D7B-99E5-45C41235B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3721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74151"/>
                </a:solidFill>
              </a:defRPr>
            </a:pPr>
            <a:r>
              <a:rPr sz="1125" b="0">
                <a:solidFill>
                  <a:srgbClr val="374151"/>
                </a:solidFill>
              </a:rPr>
              <a:t>先检索、再生成；先引用、再解释；先辅助、再决策。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FBC4FD-5DC0-4303-9332-1D7007344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8F8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7B734E-26AD-4D7B-ABAF-1AE929FEE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</a:defRPr>
            </a:pPr>
            <a:r>
              <a:rPr sz="750" b="0">
                <a:solidFill>
                  <a:srgbClr val="6B7280"/>
                </a:solidFill>
              </a:rPr>
              <a:t>Zakka et al., NEJM AI, 2024; Ferber et al., NEJM AI, 2024; Nature Cancer, 2025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758FE8-FB2A-4C88-96E2-8DB64BA6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76875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127A97-29A2-42EA-BF51-B477E8549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982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应用版图：从检索到多模态协作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55BC7D-EAF9-4C24-A0A6-5B82DD03D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48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8F8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6ED316-C3AF-4FD8-93F7-83C256C05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更适合先演示的，是可引用、可复核、低患者安全风险的场景。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E39967-8972-4030-8DC2-7E186A2DD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92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临床成熟度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899072-7CC6-43F0-AD45-496ED193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572125"/>
            <a:ext cx="742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1D5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8AEDB5-EFE0-44E1-B738-0EB506EC8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448300"/>
            <a:ext cx="3429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851A8A-1839-412B-BEAC-CE10A579B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8102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CC4E84-3A8D-4CE0-BCAE-64B6A58E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8102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82F14B-3759-45AE-8F99-E93B4A54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演示安全性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5728B8-F00D-4DEE-9959-EAB8E4863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7716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1D5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094B0E-D3EB-4A23-B732-7CEC6E74D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286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9525">
            <a:solidFill>
              <a:srgbClr val="2F85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7849FD-2B7F-480C-9D08-7C9158589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指南/证据检索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A59214-1DB5-417B-99A8-52BCBB2B7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62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9525">
            <a:solidFill>
              <a:srgbClr val="2F855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BE487A-7ADF-446B-9F7A-2C772F73A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242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文献追踪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C78FCF-B52D-4ADC-ACF8-D1130FDC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71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D7A940-55E4-43A9-BE49-F71BF9E45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1338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临床试验初筛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6F495D-8FB7-4F47-A26F-F0139EDD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628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07274A-2FEB-4110-983E-7B64D6D90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5908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MDT 会前摘要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53378C-989A-4672-90C3-361E6DD74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790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5F97"/>
          </a:solidFill>
          <a:ln xmlns:a="http://schemas.openxmlformats.org/drawingml/2006/main" w="9525">
            <a:solidFill>
              <a:srgbClr val="5B5F9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BD9449-99B9-46A2-B975-7338E72D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7528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分子报告解释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0714BD-AA40-4D7A-B6D4-DE5EA9FB3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717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5F97"/>
          </a:solidFill>
          <a:ln xmlns:a="http://schemas.openxmlformats.org/drawingml/2006/main" w="9525">
            <a:solidFill>
              <a:srgbClr val="5B5F9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736049-B7FF-447F-AC6F-0FF707FE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336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患者教育/随访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8F050F-7B30-4788-84B5-B3700F518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86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3BDF0C-D789-4A78-B211-B113BB816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6482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不良反应监测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74648F-4B31-4D70-81C6-823B7090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05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1D2122-A5EF-48D0-8F84-FE780CD4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2672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多模态影像/病理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6EF9F2-3A5D-46CB-A88B-3A5424186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336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3A3A"/>
          </a:solidFill>
          <a:ln xmlns:a="http://schemas.openxmlformats.org/drawingml/2006/main" w="9525">
            <a:solidFill>
              <a:srgbClr val="A33A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A2A0E6-088E-4141-8B50-4B871F929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955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自动治疗规划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1E0B8E-3BAF-4A55-B922-F8ACEB97F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466850"/>
            <a:ext cx="26860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9525">
            <a:solidFill>
              <a:srgbClr val="BFE6C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49D6D9-5671-40AC-864F-003BE4FBD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6954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855A"/>
                </a:solidFill>
              </a:defRPr>
            </a:pPr>
            <a:r>
              <a:rPr sz="1650" b="1">
                <a:solidFill>
                  <a:srgbClr val="2F855A"/>
                </a:solidFill>
              </a:rPr>
              <a:t>优先演示区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3B6773-FEF2-4AF2-BC12-370076C6B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38350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74151"/>
                </a:solidFill>
              </a:defRPr>
            </a:pPr>
            <a:r>
              <a:rPr sz="1200" b="0">
                <a:solidFill>
                  <a:srgbClr val="374151"/>
                </a:solidFill>
              </a:rPr>
              <a:t>可使用模拟病例、公开指南/论文、结构化输出和免责声明，风险较低。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C11C6D-99FE-477A-984D-29493EF8F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8F8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712784-4C36-4217-867B-705CF24A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</a:defRPr>
            </a:pPr>
            <a:r>
              <a:rPr sz="750" b="0">
                <a:solidFill>
                  <a:srgbClr val="6B7280"/>
                </a:solidFill>
              </a:rPr>
              <a:t>Mathes et al., npj Precision Oncology, 2026; Nature AI agents in oncology collection, 2025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88EDD3D-0320-4784-BEBE-CF83CB30A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229439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3E9982-D8D4-4037-9530-72C7CBFF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982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前沿证据显示：能力在进步，临床仍需验证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47A4BA-F3C3-4941-8B67-1EF224ED6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48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8F8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56E15D-0CDD-4BA6-80A6-B01DE272F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代表性研究的共同结论：工具增强和检索增强显著改善表现，但安全、泛化与真实世界验证仍不足。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1B7FB7-5BE0-4820-9D55-884F6FEE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148590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38DCB3-6DCD-40E3-A9A9-901D93183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7162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研究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B7F535-D6A8-44F5-9751-1BBF9117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466850"/>
            <a:ext cx="156210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945812-EA6A-42E4-A34E-2832B7A58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571625"/>
            <a:ext cx="1409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场景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2B23CD-9B3C-4870-954B-AFE937475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466850"/>
            <a:ext cx="200025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EA989C-E923-4F6A-A70D-4D4EC2C72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571625"/>
            <a:ext cx="1847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技术路线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6DCB62-A64E-4ECC-B403-A53D4C26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466850"/>
            <a:ext cx="207645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2DA4E7-FF3D-4E36-A86B-230321079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571625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主要发现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456558-6869-4225-A3F9-D21B4A12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466850"/>
            <a:ext cx="272415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FDF4CB-7522-455D-9ED3-244E91CEF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571625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启发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E78691-91C8-467A-9991-6A4BC8D7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14859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300968-935E-4D29-B304-9A0FBC30A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B1F3A"/>
                </a:solidFill>
              </a:defRPr>
            </a:pPr>
            <a:r>
              <a:rPr sz="1013" b="1">
                <a:solidFill>
                  <a:srgbClr val="0B1F3A"/>
                </a:solidFill>
              </a:rPr>
              <a:t>JAMA Netw Open 2023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A6F9D1-66C5-4ABB-A2DE-4F7D3FDFC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924050"/>
            <a:ext cx="15621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63AFE4-CAC9-40B5-B4A5-59664FB44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00025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74151"/>
                </a:solidFill>
              </a:defRPr>
            </a:pPr>
            <a:r>
              <a:rPr sz="1013" b="0">
                <a:solidFill>
                  <a:srgbClr val="374151"/>
                </a:solidFill>
              </a:rPr>
              <a:t>精准肿瘤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8B5089-5F55-4608-86BF-5F88C1589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24050"/>
            <a:ext cx="2000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65CB57-999F-484A-A015-68174B1F1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002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74151"/>
                </a:solidFill>
              </a:defRPr>
            </a:pPr>
            <a:r>
              <a:rPr sz="1013" b="0">
                <a:solidFill>
                  <a:srgbClr val="374151"/>
                </a:solidFill>
              </a:rPr>
              <a:t>4个LLM vs MTB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DFC497-0446-41F3-9C20-EA0F45BF8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24050"/>
            <a:ext cx="20764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287642-5289-4A30-B89F-30AF5C35C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002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74151"/>
                </a:solidFill>
              </a:defRPr>
            </a:pPr>
            <a:r>
              <a:rPr sz="1013" b="0">
                <a:solidFill>
                  <a:srgbClr val="374151"/>
                </a:solidFill>
              </a:rPr>
              <a:t>F1较低，但可补充想法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8338A6-BC4F-40A4-9D14-FD190D970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924050"/>
            <a:ext cx="27241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A586F0-94BA-464E-A1BE-E8FF70AFB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002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74151"/>
                </a:solidFill>
              </a:defRPr>
            </a:pPr>
            <a:r>
              <a:rPr sz="1013" b="0">
                <a:solidFill>
                  <a:srgbClr val="374151"/>
                </a:solidFill>
              </a:rPr>
              <a:t>不能裸用模型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5C29B5-1FA5-4ADB-BC0C-99AE09927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14859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E39F0D-3182-4DD2-910C-71A81478B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B1F3A"/>
                </a:solidFill>
              </a:defRPr>
            </a:pPr>
            <a:r>
              <a:rPr sz="1013" b="1">
                <a:solidFill>
                  <a:srgbClr val="0B1F3A"/>
                </a:solidFill>
              </a:rPr>
              <a:t>NEJM AI 2024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B611FA-A0CF-4BA2-B82B-A5F6F42F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457450"/>
            <a:ext cx="15621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4B69C3-1219-4F53-977C-D8AC7475F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53365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74151"/>
                </a:solidFill>
              </a:defRPr>
            </a:pPr>
            <a:r>
              <a:rPr sz="1013" b="0">
                <a:solidFill>
                  <a:srgbClr val="374151"/>
                </a:solidFill>
              </a:rPr>
              <a:t>指南检索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61D6D4-EEAA-4EF5-A473-1D6A7254C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57450"/>
            <a:ext cx="2000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88CD73-8233-47A7-A370-19A4A19F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5336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74151"/>
                </a:solidFill>
              </a:defRPr>
            </a:pPr>
            <a:r>
              <a:rPr sz="1013" b="0">
                <a:solidFill>
                  <a:srgbClr val="374151"/>
                </a:solidFill>
              </a:rPr>
              <a:t>RAG+医学语料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8D73DD-98B5-4D76-AD68-C1064F4CA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57450"/>
            <a:ext cx="20764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CEC599-46C6-4A1D-AF13-0A3E0BE90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336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74151"/>
                </a:solidFill>
              </a:defRPr>
            </a:pPr>
            <a:r>
              <a:rPr sz="1013" b="0">
                <a:solidFill>
                  <a:srgbClr val="374151"/>
                </a:solidFill>
              </a:rPr>
              <a:t>事实性/完整性提升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709999-4982-4858-AD13-8A42DC008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57450"/>
            <a:ext cx="27241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030EA13-88BE-408F-954C-65CB06B38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336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74151"/>
                </a:solidFill>
              </a:defRPr>
            </a:pPr>
            <a:r>
              <a:rPr sz="1013" b="0">
                <a:solidFill>
                  <a:srgbClr val="374151"/>
                </a:solidFill>
              </a:rPr>
              <a:t>RAG适合先落地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67A643B-E3EA-4603-A8A2-9921992E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90850"/>
            <a:ext cx="14859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C67DF54-BA6D-48F0-8E6C-92192F82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B1F3A"/>
                </a:solidFill>
              </a:defRPr>
            </a:pPr>
            <a:r>
              <a:rPr sz="1013" b="1">
                <a:solidFill>
                  <a:srgbClr val="0B1F3A"/>
                </a:solidFill>
              </a:rPr>
              <a:t>TrialGPT 2024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0421EBE-BA15-4831-98CE-742C4E60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990850"/>
            <a:ext cx="15621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56C2538-B967-4A18-9F47-A7443D286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06705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74151"/>
                </a:solidFill>
              </a:defRPr>
            </a:pPr>
            <a:r>
              <a:rPr sz="1013" b="0">
                <a:solidFill>
                  <a:srgbClr val="374151"/>
                </a:solidFill>
              </a:rPr>
              <a:t>试验匹配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0C33CB8-1447-482A-AB83-3F897DFF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90850"/>
            <a:ext cx="2000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A19D350-56F7-4676-A7F4-760ADB8A5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670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74151"/>
                </a:solidFill>
              </a:defRPr>
            </a:pPr>
            <a:r>
              <a:rPr sz="1013" b="0">
                <a:solidFill>
                  <a:srgbClr val="374151"/>
                </a:solidFill>
              </a:rPr>
              <a:t>检索+匹配+排序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827EE57-74C2-4740-88D3-7713E864A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90850"/>
            <a:ext cx="20764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BBB4D35-4CEA-408D-9F64-02D8C4D4C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670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74151"/>
                </a:solidFill>
              </a:defRPr>
            </a:pPr>
            <a:r>
              <a:rPr sz="1013" b="0">
                <a:solidFill>
                  <a:srgbClr val="374151"/>
                </a:solidFill>
              </a:rPr>
              <a:t>筛选时间减少42.6%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4C0DBAF-6EDE-461A-8E4E-927602D5B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990850"/>
            <a:ext cx="27241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7F362E0-579E-4A6D-A427-DFEDE0F5C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670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74151"/>
                </a:solidFill>
              </a:defRPr>
            </a:pPr>
            <a:r>
              <a:rPr sz="1013" b="0">
                <a:solidFill>
                  <a:srgbClr val="374151"/>
                </a:solidFill>
              </a:rPr>
              <a:t>价值清晰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C127403-EA4D-40CB-95CA-C5BF5B2D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4859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6C3793E-B2F4-443A-8371-153F2A0DB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B1F3A"/>
                </a:solidFill>
              </a:defRPr>
            </a:pPr>
            <a:r>
              <a:rPr sz="1013" b="1">
                <a:solidFill>
                  <a:srgbClr val="0B1F3A"/>
                </a:solidFill>
              </a:rPr>
              <a:t>Nature Cancer 2025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832215B-3311-4923-BD69-0DAAA3CE8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524250"/>
            <a:ext cx="15621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E68DD10-0734-4FC5-B12E-4EB529C03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60045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74151"/>
                </a:solidFill>
              </a:defRPr>
            </a:pPr>
            <a:r>
              <a:rPr sz="1013" b="0">
                <a:solidFill>
                  <a:srgbClr val="374151"/>
                </a:solidFill>
              </a:rPr>
              <a:t>多模态决策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56F6637-5595-4B56-9139-7A54701F5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24250"/>
            <a:ext cx="2000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111447E-9FFB-44F3-8134-DE7FDB1B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6004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74151"/>
                </a:solidFill>
              </a:defRPr>
            </a:pPr>
            <a:r>
              <a:rPr sz="1013" b="0">
                <a:solidFill>
                  <a:srgbClr val="374151"/>
                </a:solidFill>
              </a:rPr>
              <a:t>GPT-4+工具+图像/基因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9047802-DE53-4EBE-8E02-5D362F53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20764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38B8224-D557-403C-8495-14C9C863A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004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74151"/>
                </a:solidFill>
              </a:defRPr>
            </a:pPr>
            <a:r>
              <a:rPr sz="1013" b="0">
                <a:solidFill>
                  <a:srgbClr val="374151"/>
                </a:solidFill>
              </a:rPr>
              <a:t>结论正确率91.0%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72C2C7D-FF21-49AA-B6E9-7EBE15FE3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524250"/>
            <a:ext cx="27241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8658F54-4952-4ACD-92CB-67C7490C0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004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74151"/>
                </a:solidFill>
              </a:defRPr>
            </a:pPr>
            <a:r>
              <a:rPr sz="1013" b="0">
                <a:solidFill>
                  <a:srgbClr val="374151"/>
                </a:solidFill>
              </a:rPr>
              <a:t>Agent优于裸LLM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BE2B2BF-4412-4E0D-B943-F66BAC3C7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57650"/>
            <a:ext cx="14859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4C1C66F-5A16-4266-A22C-8C1052C8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338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B1F3A"/>
                </a:solidFill>
              </a:defRPr>
            </a:pPr>
            <a:r>
              <a:rPr sz="1013" b="1">
                <a:solidFill>
                  <a:srgbClr val="0B1F3A"/>
                </a:solidFill>
              </a:rPr>
              <a:t>npj DM 2025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5FCEC70-2CDE-4891-968E-BB1814861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057650"/>
            <a:ext cx="15621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A559C69-DE15-4560-9AA0-020DBAF99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13385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74151"/>
                </a:solidFill>
              </a:defRPr>
            </a:pPr>
            <a:r>
              <a:rPr sz="1013" b="0">
                <a:solidFill>
                  <a:srgbClr val="374151"/>
                </a:solidFill>
              </a:rPr>
              <a:t>系统综述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979B129-93BC-4CEF-AD49-B2AC5C2C2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57650"/>
            <a:ext cx="2000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1D0E88E-618D-4CCC-ADD1-96EA7A83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1338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74151"/>
                </a:solidFill>
              </a:defRPr>
            </a:pPr>
            <a:r>
              <a:rPr sz="1013" b="0">
                <a:solidFill>
                  <a:srgbClr val="374151"/>
                </a:solidFill>
              </a:rPr>
              <a:t>56项研究Meta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A6FEFEE-B403-4B8B-B410-4AC2AA8F6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57650"/>
            <a:ext cx="20764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8C632E9-6CA8-4A12-8E25-FF3D922F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338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74151"/>
                </a:solidFill>
              </a:defRPr>
            </a:pPr>
            <a:r>
              <a:rPr sz="1013" b="0">
                <a:solidFill>
                  <a:srgbClr val="374151"/>
                </a:solidFill>
              </a:rPr>
              <a:t>总体准确率76.2%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DB5B1A3-FE01-459A-87E0-18A4D9EF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057650"/>
            <a:ext cx="27241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751DA17-B645-466D-90DA-58E0BD304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1338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74151"/>
                </a:solidFill>
              </a:defRPr>
            </a:pPr>
            <a:r>
              <a:rPr sz="1013" b="0">
                <a:solidFill>
                  <a:srgbClr val="374151"/>
                </a:solidFill>
              </a:rPr>
              <a:t>评价体系不足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76AE1FB-643B-4994-93D0-3677243E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91050"/>
            <a:ext cx="14859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D375086-B7BD-463C-9509-EEE8C80F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B1F3A"/>
                </a:solidFill>
              </a:defRPr>
            </a:pPr>
            <a:r>
              <a:rPr sz="1013" b="1">
                <a:solidFill>
                  <a:srgbClr val="0B1F3A"/>
                </a:solidFill>
              </a:rPr>
              <a:t>TrialMatchAI 2026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6DC65A3-4CFA-4970-9524-DE12E35D6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591050"/>
            <a:ext cx="15621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E0B617F-947F-40B4-A2BC-E1E62C474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66725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74151"/>
                </a:solidFill>
              </a:defRPr>
            </a:pPr>
            <a:r>
              <a:rPr sz="1013" b="0">
                <a:solidFill>
                  <a:srgbClr val="374151"/>
                </a:solidFill>
              </a:rPr>
              <a:t>试验推荐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5EAF884-3116-4280-98A0-505760CBF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91050"/>
            <a:ext cx="2000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2ECE0E9-EC64-4376-9E85-35BFE60A7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6672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74151"/>
                </a:solidFill>
              </a:defRPr>
            </a:pPr>
            <a:r>
              <a:rPr sz="1013" b="0">
                <a:solidFill>
                  <a:srgbClr val="374151"/>
                </a:solidFill>
              </a:rPr>
              <a:t>开源LLM+RAG+混合检索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417D466-3A21-4481-AC57-EDEC9C933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91050"/>
            <a:ext cx="20764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B3E7F4C-FD44-4436-ADD9-A1867E9A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74151"/>
                </a:solidFill>
              </a:defRPr>
            </a:pPr>
            <a:r>
              <a:rPr sz="1013" b="0">
                <a:solidFill>
                  <a:srgbClr val="374151"/>
                </a:solidFill>
              </a:rPr>
              <a:t>Top20检索覆盖92%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D0D59CA-2135-473E-B020-148842B34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591050"/>
            <a:ext cx="27241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DC69450-D1BC-41DF-BA9B-7715DA06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6672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74151"/>
                </a:solidFill>
              </a:defRPr>
            </a:pPr>
            <a:r>
              <a:rPr sz="1013" b="0">
                <a:solidFill>
                  <a:srgbClr val="374151"/>
                </a:solidFill>
              </a:rPr>
              <a:t>可解释与本地部署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FFF4A40-2C47-4DC9-8349-93E63EAB4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721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总体趋势：裸 LLM 可靠性不足；检索和工具增强后，更适合承担证据整理与预筛任务。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40BCC1F-C6E9-4DB5-8748-FFDDD6FEA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8F8A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48A92D1-2A0C-4B6A-B355-49CD63E0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</a:defRPr>
            </a:pPr>
            <a:r>
              <a:rPr sz="750" b="0">
                <a:solidFill>
                  <a:srgbClr val="6B7280"/>
                </a:solidFill>
              </a:rPr>
              <a:t>JAMA Netw Open 2023; NEJM AI 2024; NCI 2024; Nature Cancer 2025; npj Digital Medicine 2025; Nat Commun 2026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CB2F389-D1AD-42FB-BC72-3FB178C0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493155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D31D02-B904-4FDC-9095-8CDCF0A7D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982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场景一：指南与证据检索先落地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D27937-43ED-4232-BFBE-3C9F8290E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48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8F8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9E6D8F-A979-4986-A0ED-8BF62D71A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最稳妥的应用不是直接给方案，而是把“问题—证据—适用条件—引用”整理清楚。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124F29-4AC8-4E8F-A800-232BCAAD3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2500313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723C91-F144-4566-B044-4398B6008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66900"/>
            <a:ext cx="219551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1F3A"/>
                </a:solidFill>
              </a:defRPr>
            </a:pPr>
            <a:r>
              <a:rPr sz="900" b="1">
                <a:solidFill>
                  <a:srgbClr val="0B1F3A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6F5584-8249-4EB1-937B-86527B8B9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219551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临床问题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418690-01A9-4001-8AA9-C9C4748A8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76500"/>
            <a:ext cx="2195513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74151"/>
                </a:solidFill>
              </a:defRPr>
            </a:pPr>
            <a:r>
              <a:rPr sz="1050" b="0">
                <a:solidFill>
                  <a:srgbClr val="374151"/>
                </a:solidFill>
              </a:rPr>
              <a:t>将病例转成可检索问题：疾病、分期、治疗线、突变、合并症。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368B4D-C7F7-470D-B024-1EB3C66C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788" y="2333625"/>
            <a:ext cx="2476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0">
            <a:solidFill>
              <a:srgbClr val="0E8F8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D54EF9-254C-4885-8B14-E8D4E4961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1863" y="1714500"/>
            <a:ext cx="2500313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F8F1FA-973B-432C-B9B6-CC8212AD9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4263" y="1866900"/>
            <a:ext cx="219551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8F8A"/>
                </a:solidFill>
              </a:defRPr>
            </a:pPr>
            <a:r>
              <a:rPr sz="900" b="1">
                <a:solidFill>
                  <a:srgbClr val="0E8F8A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999F13-38CB-4F24-9E78-46B17E61D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4263" y="2114550"/>
            <a:ext cx="219551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证据检索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92F864-F197-424D-856D-80D5018B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4263" y="2476500"/>
            <a:ext cx="2195513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74151"/>
                </a:solidFill>
              </a:defRPr>
            </a:pPr>
            <a:r>
              <a:rPr sz="1050" b="0">
                <a:solidFill>
                  <a:srgbClr val="374151"/>
                </a:solidFill>
              </a:rPr>
              <a:t>从指南、PubMed、药品标签、知识库中检索可引用片段。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A1C0EC-4734-4053-95CF-54C771CA1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333625"/>
            <a:ext cx="2476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0">
            <a:solidFill>
              <a:srgbClr val="0E8F8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EDCF82-D0FB-4CA6-80DA-CDD765EA8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714500"/>
            <a:ext cx="2500313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A36CAD-CAF3-4CC3-BEF6-30B7015F2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866900"/>
            <a:ext cx="219551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7791F"/>
                </a:solidFill>
              </a:defRPr>
            </a:pPr>
            <a:r>
              <a:rPr sz="900" b="1">
                <a:solidFill>
                  <a:srgbClr val="B7791F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7F0708-77BA-41F8-9646-68B0C8082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114550"/>
            <a:ext cx="219551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证据分级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4FAEE4-1D69-4C92-A34C-F39C96844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476500"/>
            <a:ext cx="2195513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74151"/>
                </a:solidFill>
              </a:defRPr>
            </a:pPr>
            <a:r>
              <a:rPr sz="1050" b="0">
                <a:solidFill>
                  <a:srgbClr val="374151"/>
                </a:solidFill>
              </a:rPr>
              <a:t>区分指南推荐、临床试验、回顾研究、专家意见和个案证据。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5332B4-B968-4D6E-8817-F57BCF2A1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4413" y="2333625"/>
            <a:ext cx="2476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0">
            <a:solidFill>
              <a:srgbClr val="0E8F8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F11EC3-D7C2-478E-AB86-156454EA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3488" y="1714500"/>
            <a:ext cx="2500313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27DC41-056D-4ECA-AAAC-7A6FB2911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5888" y="1866900"/>
            <a:ext cx="219551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855A"/>
                </a:solidFill>
              </a:defRPr>
            </a:pPr>
            <a:r>
              <a:rPr sz="900" b="1">
                <a:solidFill>
                  <a:srgbClr val="2F855A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DB5B87-A057-478D-BA78-24787E971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5888" y="2114550"/>
            <a:ext cx="219551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摘要输出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6FB202-ACA2-4629-BFE2-276CA10C1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5888" y="2476500"/>
            <a:ext cx="2195513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74151"/>
                </a:solidFill>
              </a:defRPr>
            </a:pPr>
            <a:r>
              <a:rPr sz="1050" b="0">
                <a:solidFill>
                  <a:srgbClr val="374151"/>
                </a:solidFill>
              </a:rPr>
              <a:t>生成 Evidence Brief：结论、证据、限制、待讨论问题。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665C88-70BD-4D8C-82A5-CACEA7DF7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24300"/>
            <a:ext cx="4476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360B72-E3CC-4837-AEB2-82583B8E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24300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0">
            <a:solidFill>
              <a:srgbClr val="0E8F8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F36D63-FABB-4990-B785-029AD329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114800"/>
            <a:ext cx="401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8F8A"/>
                </a:solidFill>
              </a:defRPr>
            </a:pPr>
            <a:r>
              <a:rPr sz="975" b="1">
                <a:solidFill>
                  <a:srgbClr val="0E8F8A"/>
                </a:solidFill>
              </a:rPr>
              <a:t>适合现场演示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0C6857-B087-4F21-A7E7-F81E9ACE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81500"/>
            <a:ext cx="401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高可解释，低风险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F1865F-84C8-4CFF-8D11-39AA0F7C6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800600"/>
            <a:ext cx="401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74151"/>
                </a:solidFill>
              </a:defRPr>
            </a:pPr>
            <a:r>
              <a:rPr sz="1200" b="0">
                <a:solidFill>
                  <a:srgbClr val="374151"/>
                </a:solidFill>
              </a:rPr>
              <a:t>观众可以直观看到 Agent 如何把散乱信息转为可审阅摘要；结论仍交给 MDT 和临床医生。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153240-592B-42E2-8DEA-B02B381B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24300"/>
            <a:ext cx="4476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9DC2D3-396D-4E2B-86A8-8F23025C1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24300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6C087E-670A-434C-ACE9-4F54DB43A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114800"/>
            <a:ext cx="401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7791F"/>
                </a:solidFill>
              </a:defRPr>
            </a:pPr>
            <a:r>
              <a:rPr sz="975" b="1">
                <a:solidFill>
                  <a:srgbClr val="B7791F"/>
                </a:solidFill>
              </a:rPr>
              <a:t>能力边界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EBB64C-7DDF-4B60-9994-3BE414E94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381500"/>
            <a:ext cx="401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RAG 不等于事实保证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E29A3A-46C7-45FE-A8DB-64911A31D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800600"/>
            <a:ext cx="401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74151"/>
                </a:solidFill>
              </a:defRPr>
            </a:pPr>
            <a:r>
              <a:rPr sz="1200" b="0">
                <a:solidFill>
                  <a:srgbClr val="374151"/>
                </a:solidFill>
              </a:rPr>
              <a:t>检索库质量、时间戳、分块策略、证据适用性和引用完整性都会影响输出。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F401B9-9930-4E5C-8551-419D60294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8F8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FE27A41-0FFD-49F7-90E4-607205479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</a:defRPr>
            </a:pPr>
            <a:r>
              <a:rPr sz="750" b="0">
                <a:solidFill>
                  <a:srgbClr val="6B7280"/>
                </a:solidFill>
              </a:rPr>
              <a:t>Ferber et al., NEJM AI, 2024; Xu et al., Scientific Reports, 2024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C1C5E25-321B-4D09-B4C2-68740F827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83365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88DC71-8FD4-46AB-9D40-2E0A2AF96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982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场景二：MDT 辅助适合做“会前准备”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01E7CD-C566-40D2-8D70-49480EFC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48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8F8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CA6C86-E568-4AA2-83E7-3A82960F1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Agent 可以提高讨论前的信息密度，但不能替代多学科判断。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0AEE40-04DE-4504-A789-9E9885B68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3257550" cy="2990850"/>
          </a:xfrm>
          <a:prstGeom xmlns:a="http://schemas.openxmlformats.org/drawingml/2006/main" prst="roundRect">
            <a:avLst>
              <a:gd name="adj" fmla="val 2548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923A1E-9E8D-4BE8-949A-F94A0FB9A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85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A"/>
                </a:solidFill>
              </a:defRPr>
            </a:pPr>
            <a:r>
              <a:rPr sz="1950" b="1">
                <a:solidFill>
                  <a:srgbClr val="0B1F3A"/>
                </a:solidFill>
              </a:rPr>
              <a:t>MDT 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27AE94-C226-47B2-AA4C-033A2C69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33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C125CB-1E1D-49A3-A331-1F23C473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574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病例摘要标准化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04EAF6-E7C2-496C-B7A5-8D53D0C0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90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14BD92-1C81-4C8F-BA56-64BEBA1F5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146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关键问题清单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CF650F-4D1B-4A78-9706-10169B30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48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F03CED-4609-4908-95CC-9772C3AF1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718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缺失检查提醒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AB4F4E-5FA3-461D-83DC-A3F83463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05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71DD3A-AA97-4CDF-A5EE-1FD0CC021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290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证据与试验初筛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E80922-5A36-443B-BBC2-24843028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19250"/>
            <a:ext cx="3257550" cy="2990850"/>
          </a:xfrm>
          <a:prstGeom xmlns:a="http://schemas.openxmlformats.org/drawingml/2006/main" prst="roundRect">
            <a:avLst>
              <a:gd name="adj" fmla="val 2548"/>
            </a:avLst>
          </a:prstGeom>
          <a:solidFill xmlns:a="http://schemas.openxmlformats.org/drawingml/2006/main">
            <a:srgbClr val="DDF7F5"/>
          </a:solidFill>
          <a:ln xmlns:a="http://schemas.openxmlformats.org/drawingml/2006/main" w="9525">
            <a:solidFill>
              <a:srgbClr val="BEEB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30E1D1-A8E4-428E-81DA-DCB6C37C7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85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A"/>
                </a:solidFill>
              </a:defRPr>
            </a:pPr>
            <a:r>
              <a:rPr sz="1950" b="1">
                <a:solidFill>
                  <a:srgbClr val="0B1F3A"/>
                </a:solidFill>
              </a:rPr>
              <a:t>MDT 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989E1E-B566-4290-BF51-BCF1CBAA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533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911B49-FFB4-42AB-9425-70B9F367E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574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快速定位证据来源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DB4946-93D1-44DC-AE62-E18049747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990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DCB5B8-E968-439F-B81B-5519DDF4A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9146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比较不同方案依据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E1CD7E-349C-4957-846A-C80CCB3FA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448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BDC49B-D832-4A0D-9912-C11932C24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3718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记录分歧与不确定性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A1C694-B364-493E-A634-44718E16F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905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A117FC-18F0-47F9-A66F-0FEE8BC91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8290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生成讨论纪要草稿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3734D8-109A-4B04-9DB9-A7095082C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619250"/>
            <a:ext cx="3257550" cy="2990850"/>
          </a:xfrm>
          <a:prstGeom xmlns:a="http://schemas.openxmlformats.org/drawingml/2006/main" prst="roundRect">
            <a:avLst>
              <a:gd name="adj" fmla="val 2548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EA4303-2499-4D49-8374-5C6D2FE0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85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A"/>
                </a:solidFill>
              </a:defRPr>
            </a:pPr>
            <a:r>
              <a:rPr sz="1950" b="1">
                <a:solidFill>
                  <a:srgbClr val="0B1F3A"/>
                </a:solidFill>
              </a:rPr>
              <a:t>MDT 后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2B625D-F977-40EA-877C-A059C10B2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33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514CE4-C739-40E0-A9E7-88175AEA0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574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计划结构化归档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8F0CBB-DC41-4556-9A66-2834D1FA9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90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E8EE50-E099-47B3-862F-1E238E062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146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随访/试验提醒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EF4357-140D-4885-B7D5-825530302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48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6C020A-A642-4861-9A7A-86AC60811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718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患者沟通材料草稿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8E01F4-6D83-4389-8C52-6546D5172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05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160E6F-AC7C-4328-AFC6-7E3F8E94B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290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质量与审计追踪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5C0E42C-4043-4D08-9C5E-E6D3844D6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197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A"/>
                </a:solidFill>
              </a:defRPr>
            </a:pPr>
            <a:r>
              <a:rPr sz="1425" b="1">
                <a:solidFill>
                  <a:srgbClr val="0B1F3A"/>
                </a:solidFill>
              </a:rPr>
              <a:t>研究信号：RCC MDT 试点中 LLM 与 MDT 决策总体一致率 62.1%；Nature Cancer 工具增强 Agent 在20个多模态病例中达到91.0%正确临床结论。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3486D7F-E4D0-4820-82CC-0E145772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8F8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3CBC036-C099-49D5-BC32-6141EE841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</a:defRPr>
            </a:pPr>
            <a:r>
              <a:rPr sz="750" b="0">
                <a:solidFill>
                  <a:srgbClr val="6B7280"/>
                </a:solidFill>
              </a:rPr>
              <a:t>Bertolo et al., npj Precision Oncology, 2025; Nature Cancer autonomous AI agent, 2025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217AACF-0961-4B32-ADB3-C82A7CFEE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27815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C1E2CF-178D-406B-B230-D1E3BEB13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982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场景三：临床试验匹配价值明确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0FA0B3-403B-4D0F-B8CB-C31FDF59D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48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8F8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84A7EF-F207-4BFB-B3BF-082BA543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试验匹配的痛点是“耗时、条件复杂、数据分散”，Agent 很适合做预筛。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95AD8C-8ECA-410D-B9F7-3DC590DA2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2557463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05A0A5-6A84-44BB-9EF1-D7A50656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225266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1F3A"/>
                </a:solidFill>
              </a:defRPr>
            </a:pPr>
            <a:r>
              <a:rPr sz="900" b="1">
                <a:solidFill>
                  <a:srgbClr val="0B1F3A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D67AEA-0DDD-48FC-BB08-37982CDB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38350"/>
            <a:ext cx="225266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患者特征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4DF496-87AF-4779-B1D7-5A7DF26B4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2252663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74151"/>
                </a:solidFill>
              </a:defRPr>
            </a:pPr>
            <a:r>
              <a:rPr sz="1050" b="0">
                <a:solidFill>
                  <a:srgbClr val="374151"/>
                </a:solidFill>
              </a:rPr>
              <a:t>肿瘤类型、分期、突变、治疗线、ECOG、器官功能、地域。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F7F45B-D32C-4E87-B8C3-7877AB70A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788" y="2238375"/>
            <a:ext cx="228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0">
            <a:solidFill>
              <a:srgbClr val="0E8F8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CCDB09-711A-461E-92C0-1B00AFF76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2813" y="1638300"/>
            <a:ext cx="2557463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2E4AB5-AFBE-443C-8089-D9B3CFBBC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1790700"/>
            <a:ext cx="225266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8F8A"/>
                </a:solidFill>
              </a:defRPr>
            </a:pPr>
            <a:r>
              <a:rPr sz="900" b="1">
                <a:solidFill>
                  <a:srgbClr val="0E8F8A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25F2DF-124E-4A53-B2CD-A3E3258C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2038350"/>
            <a:ext cx="225266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候选试验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26253A-C5AB-41A2-AAD9-406E20548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2400300"/>
            <a:ext cx="2252663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74151"/>
                </a:solidFill>
              </a:defRPr>
            </a:pPr>
            <a:r>
              <a:rPr sz="1050" b="0">
                <a:solidFill>
                  <a:srgbClr val="374151"/>
                </a:solidFill>
              </a:rPr>
              <a:t>ClinicalTrials.gov / 注册平台检索；按疾病、突变、药物和地点初筛。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9E17BE-AA92-4096-8F17-E40EFF11E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238375"/>
            <a:ext cx="228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0">
            <a:solidFill>
              <a:srgbClr val="0E8F8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F33D1B-CEF3-417C-A272-7D0D0DF24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638300"/>
            <a:ext cx="2557463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022C30-A478-47E4-896A-F70D1DED7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90700"/>
            <a:ext cx="225266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7791F"/>
                </a:solidFill>
              </a:defRPr>
            </a:pPr>
            <a:r>
              <a:rPr sz="900" b="1">
                <a:solidFill>
                  <a:srgbClr val="B7791F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58115C-53EA-49CF-B5B3-B74AA2F4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38350"/>
            <a:ext cx="225266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入排标准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FE6BA1-E677-48E2-AA13-B56B45C2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00300"/>
            <a:ext cx="2252663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74151"/>
                </a:solidFill>
              </a:defRPr>
            </a:pPr>
            <a:r>
              <a:rPr sz="1050" b="0">
                <a:solidFill>
                  <a:srgbClr val="374151"/>
                </a:solidFill>
              </a:rPr>
              <a:t>逐条判断 inclusion / exclusion，标注不确定项。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1E1DCC-8550-4BCF-9C0C-AB4CC1B11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0613" y="2238375"/>
            <a:ext cx="228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0">
            <a:solidFill>
              <a:srgbClr val="0E8F8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34ECC0-E54F-4CE9-BA8C-8EB2A089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0638" y="1638300"/>
            <a:ext cx="2557463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BFDFFC-645F-4B66-9BDC-08A3977CE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3038" y="1790700"/>
            <a:ext cx="225266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855A"/>
                </a:solidFill>
              </a:defRPr>
            </a:pPr>
            <a:r>
              <a:rPr sz="900" b="1">
                <a:solidFill>
                  <a:srgbClr val="2F855A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EB8F82-E16A-4F04-9462-F5F31916E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3038" y="2038350"/>
            <a:ext cx="225266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排序与解释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BC8331-B6FA-4ED4-9F5E-CA4B9F33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3038" y="2400300"/>
            <a:ext cx="2252663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74151"/>
                </a:solidFill>
              </a:defRPr>
            </a:pPr>
            <a:r>
              <a:rPr sz="1050" b="0">
                <a:solidFill>
                  <a:srgbClr val="374151"/>
                </a:solidFill>
              </a:rPr>
              <a:t>输出候选列表、匹配理由、排除原因和需人工核实内容。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C367D8-D807-4FDD-8A11-C3789DD4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14750"/>
            <a:ext cx="3143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9525">
            <a:solidFill>
              <a:srgbClr val="BFE6C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45BCE4-BD44-4D41-8B36-B4F269A30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624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855A"/>
                </a:solidFill>
              </a:defRPr>
            </a:pPr>
            <a:r>
              <a:rPr sz="1800" b="1">
                <a:solidFill>
                  <a:srgbClr val="2F855A"/>
                </a:solidFill>
              </a:rPr>
              <a:t>TrialGPT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BECE3E-E3FC-425E-99CE-68069FEAC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434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74151"/>
                </a:solidFill>
              </a:defRPr>
            </a:pPr>
            <a:r>
              <a:rPr sz="1275" b="0">
                <a:solidFill>
                  <a:srgbClr val="374151"/>
                </a:solidFill>
              </a:rPr>
              <a:t>NCI 报告：用户研究中患者筛选时间减少 42.6%。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AA390D-B286-4CEF-ACF1-4FF73508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714750"/>
            <a:ext cx="3143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DDF7F5"/>
          </a:solidFill>
          <a:ln xmlns:a="http://schemas.openxmlformats.org/drawingml/2006/main" w="9525">
            <a:solidFill>
              <a:srgbClr val="BEEBE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38581C-7F15-435B-B3D4-A196C92E1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9624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E8F8A"/>
                </a:solidFill>
              </a:defRPr>
            </a:pPr>
            <a:r>
              <a:rPr sz="1800" b="1">
                <a:solidFill>
                  <a:srgbClr val="0E8F8A"/>
                </a:solidFill>
              </a:rPr>
              <a:t>TrialMatchAI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111EDA-60B1-4FD5-863B-55AFC4CCB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3434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74151"/>
                </a:solidFill>
              </a:defRPr>
            </a:pPr>
            <a:r>
              <a:rPr sz="1275" b="0">
                <a:solidFill>
                  <a:srgbClr val="374151"/>
                </a:solidFill>
              </a:rPr>
              <a:t>2026 年研究：92%患者在Top20中至少检索到一个相关试验。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FC20BE-91F6-4A4C-B838-451ACBA49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14750"/>
            <a:ext cx="3143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3BBB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69661D-373D-4B66-AAD4-F6AA3F301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9624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33A3A"/>
                </a:solidFill>
              </a:defRPr>
            </a:pPr>
            <a:r>
              <a:rPr sz="1800" b="1">
                <a:solidFill>
                  <a:srgbClr val="A33A3A"/>
                </a:solidFill>
              </a:rPr>
              <a:t>定位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3B95E7-A8D3-40B1-942A-AA710CE6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434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74151"/>
                </a:solidFill>
              </a:defRPr>
            </a:pPr>
            <a:r>
              <a:rPr sz="1275" b="0">
                <a:solidFill>
                  <a:srgbClr val="374151"/>
                </a:solidFill>
              </a:rPr>
              <a:t>只能做预筛；最终入组必须由研究者和临床团队确认。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9A243B-5AD0-4901-8943-0C1B649AE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8F8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7315F2A-9C88-453B-AC03-7E579E4E3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</a:defRPr>
            </a:pPr>
            <a:r>
              <a:rPr sz="750" b="0">
                <a:solidFill>
                  <a:srgbClr val="6B7280"/>
                </a:solidFill>
              </a:rPr>
              <a:t>NCI TrialGPT, 2024; Abdallah et al., Nature Communications, 2026; ClinicalTrials.gov API v2.0, NLM 2024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01C890E-F9A9-4820-856C-2F8D3A6E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949577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964F80-097A-438A-B161-D3DA559C2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982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场景四：分子报告解释需要证据等级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3C76BB-20B1-4DE3-9F9C-4875BC743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48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8F8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82D63E-03BE-433A-B085-0A527138F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精准肿瘤学 Agent 的输出核心不是“靶点解释”，而是证据等级与适用条件。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2D338A-DD36-47A2-A0B0-CCB1B36DC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3143250" cy="342900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593BFF-192E-4AA2-BBFF-11B37960C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478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A"/>
                </a:solidFill>
              </a:defRPr>
            </a:pPr>
            <a:r>
              <a:rPr sz="1950" b="1">
                <a:solidFill>
                  <a:srgbClr val="0B1F3A"/>
                </a:solidFill>
              </a:rPr>
              <a:t>输入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4C9549-15F4-4E92-9659-BC4018EF5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76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F3BDDC-EEDE-4559-81A5-BA25C67A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00300"/>
            <a:ext cx="22669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肿瘤类型与分期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150ADF-5499-43C1-BE2F-2336F60C3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05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8C012C-C2F1-463A-A4E3-729092808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28925"/>
            <a:ext cx="22669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NGS / IHC / MSI / TMB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C317ED-EE74-4FD0-BEE5-13292E15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233A44-838F-49B2-BCC3-904726DD6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57550"/>
            <a:ext cx="22669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既往治疗线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61A74A-EC60-486A-8C9D-734C846A7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62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4080A1-D8BF-4401-AF8B-2CE8D50DB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86175"/>
            <a:ext cx="22669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合并症与用药限制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1D87FB-103A-4AD5-BD6A-7281C0FE2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91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751897-F3FD-4506-AE47-FF97400FD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14800"/>
            <a:ext cx="22669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患者偏好与可及性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4C2FC1-65E0-46FE-8830-C32DA52C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81150"/>
            <a:ext cx="3143250" cy="342900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DDF7F5"/>
          </a:solidFill>
          <a:ln xmlns:a="http://schemas.openxmlformats.org/drawingml/2006/main" w="9525">
            <a:solidFill>
              <a:srgbClr val="BEEB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AE8C2F-D35D-44F6-BD1B-078CE35E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8478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A"/>
                </a:solidFill>
              </a:defRPr>
            </a:pPr>
            <a:r>
              <a:rPr sz="1950" b="1">
                <a:solidFill>
                  <a:srgbClr val="0B1F3A"/>
                </a:solidFill>
              </a:rPr>
              <a:t>证据锚点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3DA0CB-E8DF-4F7B-8A60-679FCD661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476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2750B9-A2F2-4764-B0DE-D3C2DB5A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00300"/>
            <a:ext cx="22669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OncoKB / CIViC / ClinVar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1BB15D-9125-41BB-9FE5-A0B732B38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05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EAFE15-385E-4D28-B063-E87894813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28925"/>
            <a:ext cx="22669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NCCN / ASCO / ESMO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8D8384-0C30-4F3D-9BC9-6AA44184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333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16F352-D25A-4DBF-9A3F-05F35CF5E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257550"/>
            <a:ext cx="22669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FDA label / 药品说明书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26965F-4500-4469-B1BB-4B126DC7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62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C433DC-B657-4B12-8E59-6F25E87DC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86175"/>
            <a:ext cx="22669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临床试验与真实世界研究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54221C-E04E-4A55-AB20-5B399E260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91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678423-C123-4DB3-A237-2491D07AB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114800"/>
            <a:ext cx="22669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本院 MTB 规则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61B5EA-A9B0-49EF-A281-07C1F67E0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581150"/>
            <a:ext cx="3143250" cy="342900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B716C7-02BA-44DF-8298-090BCFCD7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8478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A"/>
                </a:solidFill>
              </a:defRPr>
            </a:pPr>
            <a:r>
              <a:rPr sz="1950" b="1">
                <a:solidFill>
                  <a:srgbClr val="0B1F3A"/>
                </a:solidFill>
              </a:rPr>
              <a:t>输出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95A75D-8348-4B41-83E4-96E1FEC3D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76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DCDB88-1E20-40A0-8CBF-A14066A57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00300"/>
            <a:ext cx="22669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可解释变异摘要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A9256F-7377-40A1-827B-4E1190713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05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CAA4E3-FFCA-4D28-9B8B-B61FA7657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828925"/>
            <a:ext cx="22669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证据等级与引用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E3AF07E-AE05-4A44-A35C-E078593E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333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F93C564-0DD9-445B-9119-45A1BD304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257550"/>
            <a:ext cx="22669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潜在治疗方向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05540DE-8ADE-4D0F-B6F1-1FF6AFB93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762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8E788C2-0028-4584-8B1E-59ADC3DA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686175"/>
            <a:ext cx="22669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试验匹配线索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2A4D171-42C9-48E5-AFEE-10205062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191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51A7331-E60E-4DC2-8294-8D19C70D2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114800"/>
            <a:ext cx="22669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不确定性与复核点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0B5D2F2-6B4E-497A-B594-DD7E1BC09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10200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33A3A"/>
                </a:solidFill>
              </a:defRPr>
            </a:pPr>
            <a:r>
              <a:rPr sz="1500" b="1">
                <a:solidFill>
                  <a:srgbClr val="A33A3A"/>
                </a:solidFill>
              </a:rPr>
              <a:t>医学谨慎点：低级别证据、off-label、罕见突变和复杂合并症都不应被 Agent 简化为确定性治疗建议。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DA8A6D5-3E2C-4925-B33E-6C9AA589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8F8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C955704-A09C-46BC-9BBF-065EC9E91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</a:defRPr>
            </a:pPr>
            <a:r>
              <a:rPr sz="750" b="0">
                <a:solidFill>
                  <a:srgbClr val="6B7280"/>
                </a:solidFill>
              </a:rPr>
              <a:t>MSK OncoKB; Benary et al., JAMA Network Open, 2023; The Oncologist, 2025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A0336AB-B8A8-49D3-8B03-FFD861FD0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7032671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665066-75D1-43D2-8206-48C35D597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982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场景五：多模态 Agent 仍处早期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D55162-581E-4122-81F6-B67416D00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48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8F8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D5FC39-8828-4EC3-9A23-551678262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影像、病理、基因组与文本协同是未来方向，但真实临床落地需要更严格验证。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7D472A-BAFB-4341-BC04-28142F047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152650"/>
            <a:ext cx="1752600" cy="1752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EA01B6-34C4-4885-896C-001967B3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743200"/>
            <a:ext cx="133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Coordinator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FE3032-E737-47E1-B9BF-4357F0531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809750"/>
            <a:ext cx="1714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E8F8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9A9D16-4ED2-487F-A915-01CB6B9C7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000250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E8F8A"/>
                </a:solidFill>
              </a:defRPr>
            </a:pPr>
            <a:r>
              <a:rPr sz="1650" b="1">
                <a:solidFill>
                  <a:srgbClr val="0E8F8A"/>
                </a:solidFill>
              </a:rPr>
              <a:t>影像</a:t>
            </a:r>
          </a:p>
          <a:p xmlns:a="http://schemas.openxmlformats.org/drawingml/2006/main">
            <a:pPr algn="ctr">
              <a:defRPr sz="1650" b="1">
                <a:solidFill>
                  <a:srgbClr val="0E8F8A"/>
                </a:solidFill>
              </a:defRPr>
            </a:pPr>
            <a:r>
              <a:rPr sz="1650" b="1">
                <a:solidFill>
                  <a:srgbClr val="0E8F8A"/>
                </a:solidFill>
              </a:rPr>
              <a:t>Radiology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95F83F-2578-4F36-88C8-B883DA76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38375"/>
            <a:ext cx="129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1D5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C39458-86E2-4774-8BB4-32743AF5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09750"/>
            <a:ext cx="1714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B5F9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17E9E4-1BA7-4A62-8FFA-67E0CEFF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00250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B5F97"/>
                </a:solidFill>
              </a:defRPr>
            </a:pPr>
            <a:r>
              <a:rPr sz="1650" b="1">
                <a:solidFill>
                  <a:srgbClr val="5B5F97"/>
                </a:solidFill>
              </a:rPr>
              <a:t>病理</a:t>
            </a:r>
          </a:p>
          <a:p xmlns:a="http://schemas.openxmlformats.org/drawingml/2006/main">
            <a:pPr algn="ctr">
              <a:defRPr sz="1650" b="1">
                <a:solidFill>
                  <a:srgbClr val="5B5F97"/>
                </a:solidFill>
              </a:defRPr>
            </a:pPr>
            <a:r>
              <a:rPr sz="1650" b="1">
                <a:solidFill>
                  <a:srgbClr val="5B5F97"/>
                </a:solidFill>
              </a:rPr>
              <a:t>Pathology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D5A5C5-412A-406D-AFED-25B12D4D2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3837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1D5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12FF5B-1883-422C-A407-CC6BEFDB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05300"/>
            <a:ext cx="1714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855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1A441F-E756-47DA-9FA0-AB9311ED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495800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855A"/>
                </a:solidFill>
              </a:defRPr>
            </a:pPr>
            <a:r>
              <a:rPr sz="1650" b="1">
                <a:solidFill>
                  <a:srgbClr val="2F855A"/>
                </a:solidFill>
              </a:rPr>
              <a:t>基因组</a:t>
            </a:r>
          </a:p>
          <a:p xmlns:a="http://schemas.openxmlformats.org/drawingml/2006/main">
            <a:pPr algn="ctr">
              <a:defRPr sz="1650" b="1">
                <a:solidFill>
                  <a:srgbClr val="2F855A"/>
                </a:solidFill>
              </a:defRPr>
            </a:pPr>
            <a:r>
              <a:rPr sz="1650" b="1">
                <a:solidFill>
                  <a:srgbClr val="2F855A"/>
                </a:solidFill>
              </a:rPr>
              <a:t>Genomics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FF7E93-AEA8-43F5-A9EF-7A06960EB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733925"/>
            <a:ext cx="1200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1D5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CC166B-4E09-45BD-88CA-7ABCEB8A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05300"/>
            <a:ext cx="1714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7791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3A9981-AEB9-4B95-8EE1-8CEFE9223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495800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7791F"/>
                </a:solidFill>
              </a:defRPr>
            </a:pPr>
            <a:r>
              <a:rPr sz="1650" b="1">
                <a:solidFill>
                  <a:srgbClr val="B7791F"/>
                </a:solidFill>
              </a:rPr>
              <a:t>指南/论文</a:t>
            </a:r>
          </a:p>
          <a:p xmlns:a="http://schemas.openxmlformats.org/drawingml/2006/main">
            <a:pPr algn="ctr">
              <a:defRPr sz="1650" b="1">
                <a:solidFill>
                  <a:srgbClr val="B7791F"/>
                </a:solidFill>
              </a:defRPr>
            </a:pPr>
            <a:r>
              <a:rPr sz="1650" b="1">
                <a:solidFill>
                  <a:srgbClr val="B7791F"/>
                </a:solidFill>
              </a:rPr>
              <a:t>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22B5A2-35B3-44E8-A00D-2170ED7F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339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1D5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0DE403-4B90-4470-9CDF-9810915EF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95900"/>
            <a:ext cx="103632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3BBB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92E47F-717A-4396-8D42-DB163150D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448300"/>
            <a:ext cx="986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A33A3A"/>
                </a:solidFill>
              </a:defRPr>
            </a:pPr>
            <a:r>
              <a:rPr sz="1425" b="1">
                <a:solidFill>
                  <a:srgbClr val="A33A3A"/>
                </a:solidFill>
              </a:rPr>
              <a:t>不成熟之处：多模态输入的质量控制、跨模态冲突处理、外部验证、可解释性、责任归属和网络安全仍是主要门槛。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ECC44F-FE47-4FE9-8DCD-20FAE6868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8F8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47373C-C977-4463-8E3C-3D0CA7E38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</a:defRPr>
            </a:pPr>
            <a:r>
              <a:rPr sz="750" b="0">
                <a:solidFill>
                  <a:srgbClr val="6B7280"/>
                </a:solidFill>
              </a:rPr>
              <a:t>Nature Cancer autonomous AI agent, 2025; Truhn et al., npj Precision Oncology, 2024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7A1EBF-6C65-4AF8-A750-DA08EC1D3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9860237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BB9A3E-EC88-420B-B37D-285575BA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982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真实边界：不能把研究探索说成临床成熟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FA9C66-3A91-4C05-8AE2-BEE4D1F5C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48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8F8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D26295-5378-45D9-AA79-F2FE23300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对肿瘤学听众，可信度来自边界意识，而不是夸张承诺。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590804-415A-4FA9-BFB8-0AC1F172F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00200"/>
            <a:ext cx="4762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9525">
            <a:solidFill>
              <a:srgbClr val="BFE6C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447F54-C98D-4468-B975-27D88F23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9050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F855A"/>
                </a:solidFill>
              </a:defRPr>
            </a:pPr>
            <a:r>
              <a:rPr sz="2100" b="1">
                <a:solidFill>
                  <a:srgbClr val="2F855A"/>
                </a:solidFill>
              </a:rPr>
              <a:t>可以谨慎表述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BA7280-A787-4DCF-8342-FCC865EEA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90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9525">
            <a:solidFill>
              <a:srgbClr val="2F855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EE91E7-E213-478D-A121-035C4CA73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514600"/>
            <a:ext cx="3409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辅助证据检索与病历摘要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60A8F3-CC60-4514-951F-6D5E657DA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48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9525">
            <a:solidFill>
              <a:srgbClr val="2F855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2C74A3-D058-4469-B3B5-04B82A2F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971800"/>
            <a:ext cx="3409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生成 MDT 讨论清单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51CBE4-99DB-42EF-B16B-94BAA8A3F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05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9525">
            <a:solidFill>
              <a:srgbClr val="2F855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AE039B-38DD-493A-86B8-BAD435F5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429000"/>
            <a:ext cx="3409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进行临床试验预筛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DB459A-24D6-4620-B221-96DC9F4FB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62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9525">
            <a:solidFill>
              <a:srgbClr val="2F855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96EEDA-9E37-4B9F-AA69-E6656076D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886200"/>
            <a:ext cx="3409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提升信息整理效率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9E2944-876E-4708-A1E5-850E71351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19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9525">
            <a:solidFill>
              <a:srgbClr val="2F855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719AC0-86EC-4EF3-AB0A-7F1C30A6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43400"/>
            <a:ext cx="3409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输出带引用的 Evidence Brief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E64A4D-EF19-4760-8558-A3EA8E1E4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00200"/>
            <a:ext cx="4762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3BBB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550D32-9BB7-400F-BC8F-DB8214047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050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33A3A"/>
                </a:solidFill>
              </a:defRPr>
            </a:pPr>
            <a:r>
              <a:rPr sz="2100" b="1">
                <a:solidFill>
                  <a:srgbClr val="A33A3A"/>
                </a:solidFill>
              </a:rPr>
              <a:t>不应这样表述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DB7C38-5D9A-4925-91B5-AC1CED387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590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3A3A"/>
          </a:solidFill>
          <a:ln xmlns:a="http://schemas.openxmlformats.org/drawingml/2006/main" w="9525">
            <a:solidFill>
              <a:srgbClr val="A33A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062713-CE29-4021-AA68-60C22260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514600"/>
            <a:ext cx="3409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替代医生或 MDT 决策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51D93C-0EC7-4FC7-B644-968CDC155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048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3A3A"/>
          </a:solidFill>
          <a:ln xmlns:a="http://schemas.openxmlformats.org/drawingml/2006/main" w="9525">
            <a:solidFill>
              <a:srgbClr val="A33A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8BEBEA-DA8E-47CD-AF32-4DC71240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971800"/>
            <a:ext cx="3409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自动诊断或自动治疗规划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F8956D-858B-441E-99E1-22C4DBD37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505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3A3A"/>
          </a:solidFill>
          <a:ln xmlns:a="http://schemas.openxmlformats.org/drawingml/2006/main" w="9525">
            <a:solidFill>
              <a:srgbClr val="A33A3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729B21-A192-45C4-A40C-A7B119CB5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429000"/>
            <a:ext cx="3409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保证无幻觉、无偏倚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89EBE6-B979-494F-989D-BFDC84005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62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3A3A"/>
          </a:solidFill>
          <a:ln xmlns:a="http://schemas.openxmlformats.org/drawingml/2006/main" w="9525">
            <a:solidFill>
              <a:srgbClr val="A33A3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D92FC0-43F5-466F-9DF0-8D49EB5E4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886200"/>
            <a:ext cx="3409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未经验证即可接入真实患者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F406B7-F51A-4D47-931B-E894F378A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419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3A3A"/>
          </a:solidFill>
          <a:ln xmlns:a="http://schemas.openxmlformats.org/drawingml/2006/main" w="9525">
            <a:solidFill>
              <a:srgbClr val="A33A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1D1D0F-44AB-4A4B-8D06-85E237099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343400"/>
            <a:ext cx="3409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把模型输出当作医嘱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C16B02-87C8-4923-B97D-B5D73EFB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429250"/>
            <a:ext cx="975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建议口径：学术演示 / 临床证据辅助 / MDT 信息整理助手。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1E9842-8B6F-41FF-8F6A-A0E8FC8F6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8F8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EED456-7E09-486E-91EB-710CD5410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</a:defRPr>
            </a:pPr>
            <a:r>
              <a:rPr sz="750" b="0">
                <a:solidFill>
                  <a:srgbClr val="6B7280"/>
                </a:solidFill>
              </a:rPr>
              <a:t>Hao et al., npj Digital Medicine, 2025; WHO LMM guidance, 2025; FDA AI SaMD, 2025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28059A-A743-439F-9038-EB2159212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07426557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764BFE-6C2A-4D72-8B70-52A156D8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982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现场演示应选择低风险、高可解释场景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48DE06-A406-4DCE-89F8-FE05AE130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48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8F8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F3EFC8-E476-472B-B12F-3339ACF01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在20分钟报告中，演示聚焦可引用、可复核的 Evidence Brief，而非自动诊疗。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029E7F-33C1-4E3F-BC81-71BBC21A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52600"/>
            <a:ext cx="3219450" cy="26479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9525">
            <a:solidFill>
              <a:srgbClr val="BFE6C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881662-65EE-4A73-89A0-F5E7AB06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8382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F855A"/>
          </a:solidFill>
          <a:ln xmlns:a="http://schemas.openxmlformats.org/drawingml/2006/main" w="9525">
            <a:solidFill>
              <a:srgbClr val="2F855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8EEFAB-E99A-442E-A965-5044586C3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5740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推荐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ECF9E7-8CF7-42DD-81D5-8B0F4F9FC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F3A"/>
                </a:solidFill>
              </a:defRPr>
            </a:pPr>
            <a:r>
              <a:rPr sz="1875" b="1">
                <a:solidFill>
                  <a:srgbClr val="0B1F3A"/>
                </a:solidFill>
              </a:rPr>
              <a:t>MDT 证据整合 Agent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A56198-A37B-4F5B-8843-CD139AAC1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74151"/>
                </a:solidFill>
              </a:defRPr>
            </a:pPr>
            <a:r>
              <a:rPr sz="1275" b="0">
                <a:solidFill>
                  <a:srgbClr val="374151"/>
                </a:solidFill>
              </a:rPr>
              <a:t>输入模拟病例，输出关键问题、证据摘要、试验线索和讨论清单。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325014-7EAE-41D0-93DC-09CAFE4CA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855A"/>
                </a:solidFill>
              </a:defRPr>
            </a:pPr>
            <a:r>
              <a:rPr sz="1050" b="1">
                <a:solidFill>
                  <a:srgbClr val="2F855A"/>
                </a:solidFill>
              </a:rPr>
              <a:t>最适合本次会议：贴近 MDT，能连接黑色素瘤语境，同时不越过诊疗边界。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DE1768-8AA7-42A7-8564-C44DF61A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752600"/>
            <a:ext cx="3219450" cy="26479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043633-D7FE-4D87-8829-B20104D0A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000250"/>
            <a:ext cx="8382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DF7F5"/>
          </a:solidFill>
          <a:ln xmlns:a="http://schemas.openxmlformats.org/drawingml/2006/main" w="9525">
            <a:solidFill>
              <a:srgbClr val="DDF7F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DA622E-3084-40DC-A602-6BF30316F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05740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F3A"/>
                </a:solidFill>
              </a:defRPr>
            </a:pPr>
            <a:r>
              <a:rPr sz="975" b="1">
                <a:solidFill>
                  <a:srgbClr val="0B1F3A"/>
                </a:solidFill>
              </a:rPr>
              <a:t>稳妥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38101A-7825-4025-A713-910C7499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7650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F3A"/>
                </a:solidFill>
              </a:defRPr>
            </a:pPr>
            <a:r>
              <a:rPr sz="1875" b="1">
                <a:solidFill>
                  <a:srgbClr val="0B1F3A"/>
                </a:solidFill>
              </a:rPr>
              <a:t>文献新进展追踪 Agent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2CCD28-430B-492D-95D0-A06092BA5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194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74151"/>
                </a:solidFill>
              </a:defRPr>
            </a:pPr>
            <a:r>
              <a:rPr sz="1275" b="0">
                <a:solidFill>
                  <a:srgbClr val="374151"/>
                </a:solidFill>
              </a:rPr>
              <a:t>输入疾病方向，输出 Evidence Brief、研究设计、结果、局限和临床意义。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0362F-B1CC-42B7-A393-EDA7A7D19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9624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8F8A"/>
                </a:solidFill>
              </a:defRPr>
            </a:pPr>
            <a:r>
              <a:rPr sz="1050" b="1">
                <a:solidFill>
                  <a:srgbClr val="0E8F8A"/>
                </a:solidFill>
              </a:rPr>
              <a:t>可作为备选或后续扩展。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5FEFC1-052C-44F7-8B0B-42BF291B8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52600"/>
            <a:ext cx="3219450" cy="26479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521B45-4E6A-4637-8D22-E4972A0BF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00250"/>
            <a:ext cx="8382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DF7F5"/>
          </a:solidFill>
          <a:ln xmlns:a="http://schemas.openxmlformats.org/drawingml/2006/main" w="9525">
            <a:solidFill>
              <a:srgbClr val="DDF7F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2ABAA3-BB66-48FC-B05E-654C95589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5740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F3A"/>
                </a:solidFill>
              </a:defRPr>
            </a:pPr>
            <a:r>
              <a:rPr sz="975" b="1">
                <a:solidFill>
                  <a:srgbClr val="0B1F3A"/>
                </a:solidFill>
              </a:rPr>
              <a:t>有价值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530F63-DB66-4176-9B94-9FF78D89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7650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F3A"/>
                </a:solidFill>
              </a:defRPr>
            </a:pPr>
            <a:r>
              <a:rPr sz="1875" b="1">
                <a:solidFill>
                  <a:srgbClr val="0B1F3A"/>
                </a:solidFill>
              </a:rPr>
              <a:t>临床试验初筛 Agent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69FD96-0E98-49C5-8636-61B32216D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194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74151"/>
                </a:solidFill>
              </a:defRPr>
            </a:pPr>
            <a:r>
              <a:rPr sz="1275" b="0">
                <a:solidFill>
                  <a:srgbClr val="374151"/>
                </a:solidFill>
              </a:rPr>
              <a:t>输入患者特征，按公开入排标准给出候选试验和不确定项。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B5C41A-DC01-49AB-8A27-D4C95F6E8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9624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5F97"/>
                </a:solidFill>
              </a:defRPr>
            </a:pPr>
            <a:r>
              <a:rPr sz="1050" b="1">
                <a:solidFill>
                  <a:srgbClr val="5B5F97"/>
                </a:solidFill>
              </a:rPr>
              <a:t>可作为备选或后续扩展。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0B0B02-3CCB-45D9-8C26-CC5BA65B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816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E8F8A"/>
                </a:solidFill>
              </a:defRPr>
            </a:pPr>
            <a:r>
              <a:rPr sz="2100" b="1">
                <a:solidFill>
                  <a:srgbClr val="0E8F8A"/>
                </a:solidFill>
              </a:rPr>
              <a:t>推荐方案：Onco-MDT Evidence Brief Agent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86AF13-8734-4570-A9D7-FD827F26B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8F8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EC11DB-70F5-4124-97A0-5F46AEEA2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</a:defRPr>
            </a:pPr>
            <a:r>
              <a:rPr sz="750" b="0">
                <a:solidFill>
                  <a:srgbClr val="6B7280"/>
                </a:solidFill>
              </a:rPr>
              <a:t>基于前述研究与现场演示风险评估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55815B-9538-4ED9-9CFB-D1DAE2375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76250036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96B4FF-C080-477F-8247-BA9D20CF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982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Demo 概念：Onco-MDT Evidence Brief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440823-EE66-4FC3-829D-8C0DB59BD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48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8F8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999FD0-BFAD-4EC7-9D05-FFDF464A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定位：面向 MDT 会前准备的肿瘤学证据整理助手。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9FC399-C4E3-442C-8A3E-7CAC9B79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06680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B71AA6-1831-40C9-9299-F6A744CF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52600"/>
            <a:ext cx="2457450" cy="342900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A4B87A-FBC2-4BCC-815E-BD0533777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14550"/>
            <a:ext cx="1924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Onco-MDT</a:t>
            </a:r>
          </a:p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Evidence Brief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CA936D-68E0-4805-9A06-1AEADA44B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289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F3D0"/>
                </a:solidFill>
              </a:defRPr>
            </a:pPr>
            <a:r>
              <a:rPr sz="1200" b="0">
                <a:solidFill>
                  <a:srgbClr val="A7F3D0"/>
                </a:solidFill>
              </a:rPr>
              <a:t>学术演示版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3D8A82-E500-465A-AAAF-285DDCD62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577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ECACA"/>
                </a:solidFill>
              </a:defRPr>
            </a:pPr>
            <a:r>
              <a:rPr sz="975" b="0">
                <a:solidFill>
                  <a:srgbClr val="FECACA"/>
                </a:solidFill>
              </a:rPr>
              <a:t>仅供学术研究与临床讨论辅助</a:t>
            </a:r>
          </a:p>
          <a:p xmlns:a="http://schemas.openxmlformats.org/drawingml/2006/main">
            <a:pPr algn="l">
              <a:defRPr sz="975" b="0">
                <a:solidFill>
                  <a:srgbClr val="FECACA"/>
                </a:solidFill>
              </a:defRPr>
            </a:pPr>
            <a:r>
              <a:rPr sz="975" b="0">
                <a:solidFill>
                  <a:srgbClr val="FECACA"/>
                </a:solidFill>
              </a:rPr>
              <a:t>不作为诊断或治疗建议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1E1B5A-B861-4904-8012-CA4F2F099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752600"/>
            <a:ext cx="3333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94AE14-DD5E-4765-A6A7-F4F184B12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0002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输入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8ABE25-D27D-4673-8A4C-12A8A4BB8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495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15BD04-B953-4DCD-A019-C2A359CE1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19350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827"/>
                </a:solidFill>
              </a:defRPr>
            </a:pPr>
            <a:r>
              <a:rPr sz="1163" b="0">
                <a:solidFill>
                  <a:srgbClr val="111827"/>
                </a:solidFill>
              </a:rPr>
              <a:t>模拟病例结构化字段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91E4B3-3AF2-4F13-A20E-1E52F1BE3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57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1553F1-358C-4700-A08C-74B7F856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81300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827"/>
                </a:solidFill>
              </a:defRPr>
            </a:pPr>
            <a:r>
              <a:rPr sz="1163" b="0">
                <a:solidFill>
                  <a:srgbClr val="111827"/>
                </a:solidFill>
              </a:rPr>
              <a:t>治疗线、分子标志物、试验问题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479AAC-5F1D-4C63-9B46-75B80BB8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219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18A802-40A5-4CB3-8EDE-4CF0F0B2C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43250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827"/>
                </a:solidFill>
              </a:defRPr>
            </a:pPr>
            <a:r>
              <a:rPr sz="1163" b="0">
                <a:solidFill>
                  <a:srgbClr val="111827"/>
                </a:solidFill>
              </a:rPr>
              <a:t>可选：指南 / 论文 PDF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6AFBCA-51BC-4F90-9F58-420DC8FD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52600"/>
            <a:ext cx="3333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3C612E-0677-4B64-B728-B1A110D41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0002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输出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1587AC-0D3B-4DF6-A95F-EC7F24777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95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7F9378-2523-44FA-8A7B-30D6D74A0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19350"/>
            <a:ext cx="245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827"/>
                </a:solidFill>
              </a:defRPr>
            </a:pPr>
            <a:r>
              <a:rPr sz="1163" b="0">
                <a:solidFill>
                  <a:srgbClr val="111827"/>
                </a:solidFill>
              </a:rPr>
              <a:t>病例摘要与问题清单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686558-8A6D-4010-9BB3-00DE8498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00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3EE5FF-2737-416D-A3BD-F6340AF0A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24150"/>
            <a:ext cx="245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827"/>
                </a:solidFill>
              </a:defRPr>
            </a:pPr>
            <a:r>
              <a:rPr sz="1163" b="0">
                <a:solidFill>
                  <a:srgbClr val="111827"/>
                </a:solidFill>
              </a:rPr>
              <a:t>证据摘要与引用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9FE5D0-FF43-49C9-8F8E-19C6EF484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05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CDD547-86C8-4286-B4D5-3CE530C70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28950"/>
            <a:ext cx="245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827"/>
                </a:solidFill>
              </a:defRPr>
            </a:pPr>
            <a:r>
              <a:rPr sz="1163" b="0">
                <a:solidFill>
                  <a:srgbClr val="111827"/>
                </a:solidFill>
              </a:rPr>
              <a:t>候选试验线索与待核实项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F161F1-D8AF-4160-B0BC-5F29BB14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38550"/>
            <a:ext cx="7048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DC314B-A36E-4217-95C0-E14267787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8481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演示界面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72BDD7-734D-4A66-9E03-61E843E8F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191000"/>
            <a:ext cx="6362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74151"/>
                </a:solidFill>
              </a:defRPr>
            </a:pPr>
            <a:r>
              <a:rPr sz="1350" b="0">
                <a:solidFill>
                  <a:srgbClr val="374151"/>
                </a:solidFill>
              </a:rPr>
              <a:t>左侧输入模拟病例与关键问题，右侧输出 Evidence Brief、引用来源、待核实项和免责声明。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46B2A5-D3AB-4375-A437-0730844D4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8F8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4C6710-DE9C-44AC-AB33-DBF0EED89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</a:defRPr>
            </a:pPr>
            <a:r>
              <a:rPr sz="750" b="0">
                <a:solidFill>
                  <a:srgbClr val="6B7280"/>
                </a:solidFill>
              </a:rPr>
              <a:t>Dify demo concept; simulated case; no real patient data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F32095-146D-4CAA-9117-CF395AE6F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63066626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D4EDFE-E099-45A2-9AE6-F9924DAC5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982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概念架构：Dify 可承载证据整理流程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334FE2-DD1A-4F55-AB8D-AC15EB9B3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48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8F8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261712-F9BF-4311-8CC0-28A47FB4B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可视化工作流适合展示“输入、检索、筛选、结构化输出、人工复核”的闭环。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8C3D06-55CC-487F-8DBC-D0088E16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206502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59A823-1F00-467C-919C-6A93F5CD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76022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1F3A"/>
                </a:solidFill>
              </a:defRPr>
            </a:pPr>
            <a:r>
              <a:rPr sz="900" b="1">
                <a:solidFill>
                  <a:srgbClr val="0B1F3A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0928AD-6F00-4038-8324-5A5B104C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57400"/>
            <a:ext cx="176022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病例输入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C522B1-D611-484C-995B-37B976953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19350"/>
            <a:ext cx="17602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74151"/>
                </a:solidFill>
              </a:defRPr>
            </a:pPr>
            <a:r>
              <a:rPr sz="1050" b="0">
                <a:solidFill>
                  <a:srgbClr val="374151"/>
                </a:solidFill>
              </a:rPr>
              <a:t>表单校验；去标识化；限制为模拟病例。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DF5B26-6789-4E5C-8357-423642811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3195" y="2257425"/>
            <a:ext cx="190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0">
            <a:solidFill>
              <a:srgbClr val="0E8F8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9BD47A-6494-4834-960E-4C140BDD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5120" y="1657350"/>
            <a:ext cx="206502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AA55AE-5921-42BE-BEAA-D0349B963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1809750"/>
            <a:ext cx="176022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8F8A"/>
                </a:solidFill>
              </a:defRPr>
            </a:pPr>
            <a:r>
              <a:rPr sz="900" b="1">
                <a:solidFill>
                  <a:srgbClr val="0E8F8A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A58C01-B2E5-4A9E-8B4E-81BABB61C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057400"/>
            <a:ext cx="176022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问题拆解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DC9983-D54B-46D8-A904-3FB485C8F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419350"/>
            <a:ext cx="17602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74151"/>
                </a:solidFill>
              </a:defRPr>
            </a:pPr>
            <a:r>
              <a:rPr sz="1050" b="0">
                <a:solidFill>
                  <a:srgbClr val="374151"/>
                </a:solidFill>
              </a:rPr>
              <a:t>生成 MDT 关注点：分期、治疗线、突变、转移、试验。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940F9A-3D44-4997-AFDE-BB511C98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565" y="2257425"/>
            <a:ext cx="190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0">
            <a:solidFill>
              <a:srgbClr val="0E8F8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6BCA60-2F82-41B0-905E-F6018506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3490" y="1657350"/>
            <a:ext cx="206502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1A57D4-D995-45C2-B4E1-652F1301B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5890" y="1809750"/>
            <a:ext cx="176022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5F97"/>
                </a:solidFill>
              </a:defRPr>
            </a:pPr>
            <a:r>
              <a:rPr sz="900" b="1">
                <a:solidFill>
                  <a:srgbClr val="5B5F97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6FCD31-538E-4F7C-A393-2E2002021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5890" y="2057400"/>
            <a:ext cx="176022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知识检索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294737-DEC1-49B9-B7AD-F4172B2CD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5890" y="2419350"/>
            <a:ext cx="17602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74151"/>
                </a:solidFill>
              </a:defRPr>
            </a:pPr>
            <a:r>
              <a:rPr sz="1050" b="0">
                <a:solidFill>
                  <a:srgbClr val="374151"/>
                </a:solidFill>
              </a:rPr>
              <a:t>指南库、论文库、OncoKB、ClinicalTrials.gov。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A607BE-C932-46E7-940D-E0B1DB96E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9935" y="2257425"/>
            <a:ext cx="190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0">
            <a:solidFill>
              <a:srgbClr val="0E8F8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08957E-D525-4FF9-8454-3FD0E75C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1860" y="1657350"/>
            <a:ext cx="206502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C3A9A9-F037-45D5-8007-5ADD24343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4260" y="1809750"/>
            <a:ext cx="176022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7791F"/>
                </a:solidFill>
              </a:defRPr>
            </a:pPr>
            <a:r>
              <a:rPr sz="900" b="1">
                <a:solidFill>
                  <a:srgbClr val="B7791F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F62257-6364-43DA-895A-D8C58AF9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4260" y="2057400"/>
            <a:ext cx="176022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证据筛选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836AAA-8E91-4BD7-BD25-75BAF426C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4260" y="2419350"/>
            <a:ext cx="17602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74151"/>
                </a:solidFill>
              </a:defRPr>
            </a:pPr>
            <a:r>
              <a:rPr sz="1050" b="0">
                <a:solidFill>
                  <a:srgbClr val="374151"/>
                </a:solidFill>
              </a:rPr>
              <a:t>按证据等级、时间、适用人群和不确定性排序。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41B0EC-020E-4AEF-8726-4C85B6F8F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8305" y="2257425"/>
            <a:ext cx="190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0">
            <a:solidFill>
              <a:srgbClr val="0E8F8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AE900A-27CE-4AC7-8222-522FC21F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0230" y="1657350"/>
            <a:ext cx="206502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1AF35E-C353-44BF-B1CE-B3A1227E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2630" y="1809750"/>
            <a:ext cx="176022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855A"/>
                </a:solidFill>
              </a:defRPr>
            </a:pPr>
            <a:r>
              <a:rPr sz="900" b="1">
                <a:solidFill>
                  <a:srgbClr val="2F855A"/>
                </a:solidFill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D6E936-3229-455E-883E-8EB292CC4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2630" y="2057400"/>
            <a:ext cx="176022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结构化输出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924872-79FD-44F6-8BF8-AE5BD7433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2630" y="2419350"/>
            <a:ext cx="17602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74151"/>
                </a:solidFill>
              </a:defRPr>
            </a:pPr>
            <a:r>
              <a:rPr sz="1050" b="0">
                <a:solidFill>
                  <a:srgbClr val="374151"/>
                </a:solidFill>
              </a:rPr>
              <a:t>Evidence Brief + 引用 + 免责声明 + 人工复核清单。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CDBD0D-F59E-411E-86ED-DE91C613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10000"/>
            <a:ext cx="96964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93290C-393F-46AD-BC63-21074B797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576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降幻觉设计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2016DC-6567-4BAE-A3BD-F20148C56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114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E156C6-3BE3-4182-BA0F-39888E975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038600"/>
            <a:ext cx="6553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系统 Prompt 要求：没有检索证据时必须回答“证据不足/需人工核实”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219C39-BA92-44A5-9316-CE19909FF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400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4ECEEED-7CB2-4540-A987-2877D673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324350"/>
            <a:ext cx="6553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输出模板固定：结论、证据、适用条件、限制、不确定项、引用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70D2A3-B7EE-4B1C-BF1C-D0E984FFB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686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6823003-D81D-44FA-840F-C581CC159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610100"/>
            <a:ext cx="6553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引用必须显示来源、年份和检索时间；临床建议使用“供讨论”而非“推荐”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3FE225C-4ADE-4FC1-93DB-B47BA3BCC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8F8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AA6B3C6-E2D7-4752-B760-1CCEB5A29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</a:defRPr>
            </a:pPr>
            <a:r>
              <a:rPr sz="750" b="0">
                <a:solidFill>
                  <a:srgbClr val="6B7280"/>
                </a:solidFill>
              </a:rPr>
              <a:t>ClinicalTrials.gov API v2.0, NLM 2024; MSK OncoKB; RAG/CDSS design principles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BEB5286-3CE1-41FE-ADC3-FB8A34F7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25973198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C450F9-5691-415D-BC2A-74F8BA00A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982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模拟病例：用黑色素瘤连接会议语境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55FBEC-5811-45B9-A7A0-B2CBC5CF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48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8F8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52352D-03BC-4775-8BCE-7534B0557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病例只用于演示信息整理，不代表真实患者，也不生成治疗医嘱。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929DD8-9F26-4149-ACEB-6E9A92A88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04950"/>
            <a:ext cx="434340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545A7B-7B7F-411D-8200-B9353E87C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09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A"/>
                </a:solidFill>
              </a:defRPr>
            </a:pPr>
            <a:r>
              <a:rPr sz="1950" b="1">
                <a:solidFill>
                  <a:srgbClr val="0B1F3A"/>
                </a:solidFill>
              </a:rPr>
              <a:t>模拟病例输入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D0F35A-AE92-46D3-BCAF-2CF5AC4BD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43150"/>
            <a:ext cx="36004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74151"/>
                </a:solidFill>
              </a:defRPr>
            </a:pPr>
            <a:r>
              <a:rPr sz="1275" b="0">
                <a:solidFill>
                  <a:srgbClr val="374151"/>
                </a:solidFill>
              </a:rPr>
              <a:t>患者：58岁，女性，转移性黑色素瘤（模拟）</a:t>
            </a:r>
          </a:p>
          <a:p xmlns:a="http://schemas.openxmlformats.org/drawingml/2006/main">
            <a:pPr algn="l">
              <a:defRPr sz="1275" b="0">
                <a:solidFill>
                  <a:srgbClr val="374151"/>
                </a:solidFill>
              </a:defRPr>
            </a:pPr>
            <a:r>
              <a:rPr sz="1275" b="0">
                <a:solidFill>
                  <a:srgbClr val="374151"/>
                </a:solidFill>
              </a:rPr>
              <a:t>病理：皮肤原发，既往切除；现肺/淋巴结转移</a:t>
            </a:r>
          </a:p>
          <a:p xmlns:a="http://schemas.openxmlformats.org/drawingml/2006/main">
            <a:pPr algn="l">
              <a:defRPr sz="1275" b="0">
                <a:solidFill>
                  <a:srgbClr val="374151"/>
                </a:solidFill>
              </a:defRPr>
            </a:pPr>
            <a:r>
              <a:rPr sz="1275" b="0">
                <a:solidFill>
                  <a:srgbClr val="374151"/>
                </a:solidFill>
              </a:rPr>
              <a:t>分子：BRAF V600E 阳性；MSI 未见高，TMB 中等</a:t>
            </a:r>
          </a:p>
          <a:p xmlns:a="http://schemas.openxmlformats.org/drawingml/2006/main">
            <a:pPr algn="l">
              <a:defRPr sz="1275" b="0">
                <a:solidFill>
                  <a:srgbClr val="374151"/>
                </a:solidFill>
              </a:defRPr>
            </a:pPr>
            <a:r>
              <a:rPr sz="1275" b="0">
                <a:solidFill>
                  <a:srgbClr val="374151"/>
                </a:solidFill>
              </a:rPr>
              <a:t>治疗史：PD-1 单药后进展；ECOG 1</a:t>
            </a:r>
          </a:p>
          <a:p xmlns:a="http://schemas.openxmlformats.org/drawingml/2006/main">
            <a:pPr algn="l">
              <a:defRPr sz="1275" b="0">
                <a:solidFill>
                  <a:srgbClr val="374151"/>
                </a:solidFill>
              </a:defRPr>
            </a:pPr>
            <a:r>
              <a:rPr sz="1275" b="0">
                <a:solidFill>
                  <a:srgbClr val="374151"/>
                </a:solidFill>
              </a:rPr>
              <a:t>临床问题：下一步 MDT 需讨论哪些证据与试验方向？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1906C0-B265-4278-AA2A-568018830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504950"/>
            <a:ext cx="544830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9C05AA-BE30-4310-BB94-8D3EF8860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A"/>
                </a:solidFill>
              </a:defRPr>
            </a:pPr>
            <a:r>
              <a:rPr sz="1950" b="1">
                <a:solidFill>
                  <a:srgbClr val="0B1F3A"/>
                </a:solidFill>
              </a:rPr>
              <a:t>现场交互流程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70F20C-D6C1-48A9-A24E-41D9276DE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62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6F319C-C68B-405E-86DA-1039E0C0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288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84FF9D-2871-4592-8392-46674DB8D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431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粘贴模拟病例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F66C39-FF8F-490D-8F16-9D547FF21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2890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提醒：去标识化、非真实患者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1AFB58-2DF1-4159-8527-A6E41BD16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990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A393ED-432E-4D7D-8E82-141E07F11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575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9CFF5D-E74A-4476-A218-E173E3A9D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71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选择任务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6B49D9-1523-4073-B74E-1E8D7AB72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575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MDT Evidence Brief / 试验预筛 / 文献摘要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C61CC9-726B-447A-8924-276A4240F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19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22E369-256E-48A9-83CE-0995C402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861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983581-8DB6-4828-9BA9-00F1888C2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004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生成输出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56CC93-F0C9-42FD-96E1-4D894078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8620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病例摘要、证据、待讨论问题、引用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34972E-93A4-4CF9-80FC-3132B2134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248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C23D63-702E-4A49-8C90-34181397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3148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F9F3C2-3B08-41B2-96F4-CDDCDD0D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2291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人工解释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F4606B-90C4-45C9-BE2D-7E24220E6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148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说明哪些内容适合讨论，哪些不能作为医嘱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5C8FB2-DA2C-466A-89CB-E7A8D63A9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8F8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82AA47-2B37-4CB5-9B1C-C3180B11B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</a:defRPr>
            </a:pPr>
            <a:r>
              <a:rPr sz="750" b="0">
                <a:solidFill>
                  <a:srgbClr val="6B7280"/>
                </a:solidFill>
              </a:rPr>
              <a:t>模拟病例；不涉及真实患者隐私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F6129B-B421-433A-85E8-708FCC83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3329757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ECFFDE-75D8-41B5-AC97-C9F072DA6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982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预期输出：Evidence Brief，而非治疗医嘱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7C2DC9-8436-4F4C-AC58-FC2AFC375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48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8F8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14F139-47AC-415E-8060-BD39F7B74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把 Agent 输出设计成“可审阅摘要”，能显著降低医学风险。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E32FFA-6094-4BDF-A60A-DDDAEBB9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24000"/>
            <a:ext cx="10553700" cy="3943350"/>
          </a:xfrm>
          <a:prstGeom xmlns:a="http://schemas.openxmlformats.org/drawingml/2006/main" prst="roundRect">
            <a:avLst>
              <a:gd name="adj" fmla="val 193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37F04-7010-44D5-830A-F7A30BDA7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866900"/>
            <a:ext cx="44005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3D551D-869A-49CF-A977-E310B3F5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193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病例摘要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93E037-EE44-4AC3-8E90-D6F529081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0002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74151"/>
                </a:solidFill>
              </a:defRPr>
            </a:pPr>
            <a:r>
              <a:rPr sz="1163" b="0">
                <a:solidFill>
                  <a:srgbClr val="374151"/>
                </a:solidFill>
              </a:rPr>
              <a:t>一段话概括诊断背景、治疗线、分子特征和当前问题。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8ED664-07F3-4D61-B139-EFD02A9C0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66900"/>
            <a:ext cx="44005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FDDB22-4976-49B2-BA9D-4A6A2B08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193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关键临床问题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B78121-4042-47AE-9833-49866073F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0002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74151"/>
                </a:solidFill>
              </a:defRPr>
            </a:pPr>
            <a:r>
              <a:rPr sz="1163" b="0">
                <a:solidFill>
                  <a:srgbClr val="374151"/>
                </a:solidFill>
              </a:rPr>
              <a:t>例如：进展后证据、BRAF相关方向、脑转移/症状控制、试验可及性。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F8139F-DD60-4B17-A005-6AB00154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33700"/>
            <a:ext cx="44005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12CCB8-2C1C-4A69-A59A-A296692DE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861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证据摘要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E0E0BC-9CE1-4F55-B969-0C9A85C97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670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74151"/>
                </a:solidFill>
              </a:defRPr>
            </a:pPr>
            <a:r>
              <a:rPr sz="1163" b="0">
                <a:solidFill>
                  <a:srgbClr val="374151"/>
                </a:solidFill>
              </a:rPr>
              <a:t>按指南、临床研究、药品标签、数据库线索分层展示，并注明年份。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19513C-C613-4E3A-B4A7-351178B3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933700"/>
            <a:ext cx="44005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7941D6-2D46-4CAE-A4CE-5F83A1AFB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861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临床试验线索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59E8A8-85AA-4D6C-A9AF-A28412CCD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0670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74151"/>
                </a:solidFill>
              </a:defRPr>
            </a:pPr>
            <a:r>
              <a:rPr sz="1163" b="0">
                <a:solidFill>
                  <a:srgbClr val="374151"/>
                </a:solidFill>
              </a:rPr>
              <a:t>只列“可能相关方向”和需核实入排标准，不宣称可入组。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DD090C-26D2-42AD-9451-7F375F2D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00500"/>
            <a:ext cx="44005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9B2759-151F-4FF8-8607-B280257D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529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MDT 讨论清单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7B5ED9-7F9D-4E2E-82BE-AFBF29E83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1338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74151"/>
                </a:solidFill>
              </a:defRPr>
            </a:pPr>
            <a:r>
              <a:rPr sz="1163" b="0">
                <a:solidFill>
                  <a:srgbClr val="374151"/>
                </a:solidFill>
              </a:rPr>
              <a:t>缺失检查、需病理/影像复核点、患者偏好与安全性问题。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9D0EE3-7942-4DC8-A5E5-910ED0502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000500"/>
            <a:ext cx="44005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A36A0C-DDE5-416A-9244-F3861D6F1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529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33A3A"/>
                </a:solidFill>
              </a:defRPr>
            </a:pPr>
            <a:r>
              <a:rPr sz="1500" b="1">
                <a:solidFill>
                  <a:srgbClr val="A33A3A"/>
                </a:solidFill>
              </a:rPr>
              <a:t>免责声明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FDDAAE-3CBB-4F89-92BD-C76E2E73E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1338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74151"/>
                </a:solidFill>
              </a:defRPr>
            </a:pPr>
            <a:r>
              <a:rPr sz="1163" b="0">
                <a:solidFill>
                  <a:srgbClr val="374151"/>
                </a:solidFill>
              </a:rPr>
              <a:t>仅供学术研究与临床讨论辅助，不作为诊断或治疗建议。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9BC0EB-F880-4EC9-A790-A69EFD3D4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95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E8F8A"/>
                </a:solidFill>
              </a:defRPr>
            </a:pPr>
            <a:r>
              <a:rPr sz="1725" b="1">
                <a:solidFill>
                  <a:srgbClr val="0E8F8A"/>
                </a:solidFill>
              </a:rPr>
              <a:t>核心表达：这不是“AI 给方案”，而是“AI 帮 MDT 把讨论材料准备得更完整”。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24728B-CE17-41F7-91CC-EB79E3475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8F8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AA7D58-1F24-4634-B500-22E27CC4C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</a:defRPr>
            </a:pPr>
            <a:r>
              <a:rPr sz="750" b="0">
                <a:solidFill>
                  <a:srgbClr val="6B7280"/>
                </a:solidFill>
              </a:rPr>
              <a:t>Demo output template; aligned with human-in-the-loop CDSS principles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A61B01-5C91-45DA-8B3C-EC2F8468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01251097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FA6E54-E401-4391-80A5-931E976B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982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从 Demo 到临床应用还差四层验证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16AFFB-B1A3-4404-8F9F-6617AA076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48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8F8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DEF99C-25E1-49BC-9D05-FB3FEA796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Demo 证明可理解性；临床应用需要证明安全性、有效性、可监管性和流程适配。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353723-AF1A-4526-B825-D9BBC8519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24000"/>
            <a:ext cx="933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F5F0F8-2E13-496D-A59D-8A9473800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24000"/>
            <a:ext cx="133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solidFill>
              <a:srgbClr val="0B1F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8C652C-A621-43C9-88D8-F22677B05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6764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数据层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6BB767-7BF9-4236-A62F-D169643A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685925"/>
            <a:ext cx="676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74151"/>
                </a:solidFill>
              </a:defRPr>
            </a:pPr>
            <a:r>
              <a:rPr sz="1425" b="0">
                <a:solidFill>
                  <a:srgbClr val="374151"/>
                </a:solidFill>
              </a:rPr>
              <a:t>去标识化、权限、来源质量、更新机制、偏倚评估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EC0766-B6B3-4808-9D4F-9CEDBC0A1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00300"/>
            <a:ext cx="933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644BCF-8A8C-4862-BFBD-929363B4E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00300"/>
            <a:ext cx="133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0">
            <a:solidFill>
              <a:srgbClr val="0E8F8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DC924E-AB2B-4840-9968-40ED9677F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5527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8F8A"/>
                </a:solidFill>
              </a:defRPr>
            </a:pPr>
            <a:r>
              <a:rPr sz="1650" b="1">
                <a:solidFill>
                  <a:srgbClr val="0E8F8A"/>
                </a:solidFill>
              </a:rPr>
              <a:t>模型层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00A018-CAFC-42C2-8E50-B97A911B5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562225"/>
            <a:ext cx="676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74151"/>
                </a:solidFill>
              </a:defRPr>
            </a:pPr>
            <a:r>
              <a:rPr sz="1425" b="0">
                <a:solidFill>
                  <a:srgbClr val="374151"/>
                </a:solidFill>
              </a:rPr>
              <a:t>事实性、引用准确、鲁棒性、提示敏感性、漂移监测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CA14B7-7DF1-46D6-B614-093E7D14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76600"/>
            <a:ext cx="933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6F397E-96F0-4740-AFAF-616D31ECB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76600"/>
            <a:ext cx="133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23929E-00A8-480F-A156-24AD7B648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29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7791F"/>
                </a:solidFill>
              </a:defRPr>
            </a:pPr>
            <a:r>
              <a:rPr sz="1650" b="1">
                <a:solidFill>
                  <a:srgbClr val="B7791F"/>
                </a:solidFill>
              </a:rPr>
              <a:t>临床层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CF93B5-120B-46E4-8FB4-8A701C04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38525"/>
            <a:ext cx="676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74151"/>
                </a:solidFill>
              </a:defRPr>
            </a:pPr>
            <a:r>
              <a:rPr sz="1425" b="0">
                <a:solidFill>
                  <a:srgbClr val="374151"/>
                </a:solidFill>
              </a:rPr>
              <a:t>医生评价、真实病例外部验证、患者结局或流程指标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F6471D-DD3F-4541-8C93-582DD99EB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52900"/>
            <a:ext cx="933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CC14E2-B63A-4F6A-841D-1D8C7B3DE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52900"/>
            <a:ext cx="133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3A3A"/>
          </a:solidFill>
          <a:ln xmlns:a="http://schemas.openxmlformats.org/drawingml/2006/main" w="0">
            <a:solidFill>
              <a:srgbClr val="A33A3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6D3C1B-5A0E-44E5-B046-62B5827FE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053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33A3A"/>
                </a:solidFill>
              </a:defRPr>
            </a:pPr>
            <a:r>
              <a:rPr sz="1650" b="1">
                <a:solidFill>
                  <a:srgbClr val="A33A3A"/>
                </a:solidFill>
              </a:rPr>
              <a:t>治理层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022C31-2E1D-4D38-A148-69EFE1B7B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314825"/>
            <a:ext cx="676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74151"/>
                </a:solidFill>
              </a:defRPr>
            </a:pPr>
            <a:r>
              <a:rPr sz="1425" b="0">
                <a:solidFill>
                  <a:srgbClr val="374151"/>
                </a:solidFill>
              </a:rPr>
              <a:t>责任归属、审计日志、监管路径、网络安全、培训制度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A5100C-CEAB-46C7-8864-7451FC66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286375"/>
            <a:ext cx="84582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DF7F5"/>
          </a:solidFill>
          <a:ln xmlns:a="http://schemas.openxmlformats.org/drawingml/2006/main" w="9525">
            <a:solidFill>
              <a:srgbClr val="BEEB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4E5061-42CA-4F21-A7D0-E8B780C6F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448300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临床转化原则：人类负责最终判断，系统负责可追踪的信息组织。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F15666-AF2A-411D-9D30-956542B52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8F8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65A161-553E-4110-B6DF-EB8E36804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</a:defRPr>
            </a:pPr>
            <a:r>
              <a:rPr sz="750" b="0">
                <a:solidFill>
                  <a:srgbClr val="6B7280"/>
                </a:solidFill>
              </a:rPr>
              <a:t>WHO LMM guidance, 2025; FDA AI SaMD, 2025; Mathes et al., npj Precision Oncology, 2026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EC3C35-99C6-473C-BB9A-DAF1A211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26060760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4114C3-5165-45F9-BFB3-E897DF94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982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未来展望：可信、可评估、可监管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38A3FA-D37F-4DC8-A7F0-151FBCB1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48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8F8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6FDDE7-0804-4421-A7C7-E944B2A89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肿瘤学 Agent 的未来不是更强的聊天，而是更可靠的临床知识基础设施。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550668-B5F5-4680-8D9A-9F832FCFC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6400"/>
            <a:ext cx="46863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C37C5B-5076-41E5-8357-BD262135C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F3A"/>
                </a:solidFill>
              </a:defRPr>
            </a:pPr>
            <a:r>
              <a:rPr sz="1875" b="1">
                <a:solidFill>
                  <a:srgbClr val="0B1F3A"/>
                </a:solidFill>
              </a:rPr>
              <a:t>从回答到工作流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D8B5E9-2ED8-4DE6-93AA-CAE16F614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241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74151"/>
                </a:solidFill>
              </a:defRPr>
            </a:pPr>
            <a:r>
              <a:rPr sz="1350" b="0">
                <a:solidFill>
                  <a:srgbClr val="374151"/>
                </a:solidFill>
              </a:rPr>
              <a:t>由单次问答转向病例摘要、检索、核验、引用、人工复核的闭环。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B488C1-FABE-4579-8E9B-7A4CFD918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676400"/>
            <a:ext cx="46863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DDF7F5"/>
          </a:solidFill>
          <a:ln xmlns:a="http://schemas.openxmlformats.org/drawingml/2006/main" w="9525">
            <a:solidFill>
              <a:srgbClr val="BEEB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B010DC-47DD-4D1C-BB69-CF4F97AB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050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F3A"/>
                </a:solidFill>
              </a:defRPr>
            </a:pPr>
            <a:r>
              <a:rPr sz="1875" b="1">
                <a:solidFill>
                  <a:srgbClr val="0B1F3A"/>
                </a:solidFill>
              </a:rPr>
              <a:t>从单模型到工具链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74AF1A-8353-4E98-8894-201D49C42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241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74151"/>
                </a:solidFill>
              </a:defRPr>
            </a:pPr>
            <a:r>
              <a:rPr sz="1350" b="0">
                <a:solidFill>
                  <a:srgbClr val="374151"/>
                </a:solidFill>
              </a:rPr>
              <a:t>通用 LLM 与指南库、试验库、分子数据库、影像/病理模型协同。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834446-35FD-4B24-A194-3B1CEA824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46863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C6B738-0645-4A86-8BE3-23C7C8618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814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F3A"/>
                </a:solidFill>
              </a:defRPr>
            </a:pPr>
            <a:r>
              <a:rPr sz="1875" b="1">
                <a:solidFill>
                  <a:srgbClr val="0B1F3A"/>
                </a:solidFill>
              </a:rPr>
              <a:t>从平均准确率到临床指标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90C2F7-22CE-467A-BB2B-CB77AE7E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005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74151"/>
                </a:solidFill>
              </a:defRPr>
            </a:pPr>
            <a:r>
              <a:rPr sz="1350" b="0">
                <a:solidFill>
                  <a:srgbClr val="374151"/>
                </a:solidFill>
              </a:rPr>
              <a:t>评价不只看答对多少，还要看伤害、清晰度、时间节约和决策质量。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4D34A5-7B84-4054-B8BB-5964F6AF2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352800"/>
            <a:ext cx="46863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DDF7F5"/>
          </a:solidFill>
          <a:ln xmlns:a="http://schemas.openxmlformats.org/drawingml/2006/main" w="9525">
            <a:solidFill>
              <a:srgbClr val="BEEB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433683-C5EC-4FE7-A577-2919DE5FD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814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F3A"/>
                </a:solidFill>
              </a:defRPr>
            </a:pPr>
            <a:r>
              <a:rPr sz="1875" b="1">
                <a:solidFill>
                  <a:srgbClr val="0B1F3A"/>
                </a:solidFill>
              </a:rPr>
              <a:t>从研究原型到监管系统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F1AE6E-00D7-441C-B1CD-9C20A2001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005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74151"/>
                </a:solidFill>
              </a:defRPr>
            </a:pPr>
            <a:r>
              <a:rPr sz="1350" b="0">
                <a:solidFill>
                  <a:srgbClr val="374151"/>
                </a:solidFill>
              </a:rPr>
              <a:t>生命周期管理、变更控制、审计日志、责任边界和真实世界监测。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B0831F-2BF9-48B8-9B62-245138C71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3911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E8F8A"/>
                </a:solidFill>
              </a:defRPr>
            </a:pPr>
            <a:r>
              <a:rPr sz="1800" b="1">
                <a:solidFill>
                  <a:srgbClr val="0E8F8A"/>
                </a:solidFill>
              </a:rPr>
              <a:t>一句话展望：真正有价值的 Oncology Agent，应成为“可审计的证据协作者”。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E0604D-24DA-4AF9-948E-8400DE3F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8F8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CA8404-12BA-4D0F-84D4-C0F154E46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</a:defRPr>
            </a:pPr>
            <a:r>
              <a:rPr sz="750" b="0">
                <a:solidFill>
                  <a:srgbClr val="6B7280"/>
                </a:solidFill>
              </a:rPr>
              <a:t>Nature AI agents in oncology collection, 2025; WHO 2025; FDA 2025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ED7DDC-0680-4297-ADE3-2BFC9625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44673045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947368-366C-49D7-9E84-B25389ADF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solidFill>
              <a:srgbClr val="0B1F3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D76E70-147E-4CFF-9CC3-1DC21900A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0">
            <a:solidFill>
              <a:srgbClr val="0E8F8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59321E-E52F-4CF9-9957-BADC024D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85800"/>
            <a:ext cx="914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总结：Agent 的价值在于人机协同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ECB427-6C32-4E66-8E73-7D63FA9AA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33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D252DD-A3AC-4956-A782-D38E3D30C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254C36-BBF0-4269-841B-C72E0E118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954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肿瘤学 Agent 的合理定位是证据整合与流程增效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DFA157-738F-4ABA-9DFC-366AD350B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52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90D2B9-016A-4CD0-AED6-80BA63695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289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E9A81C-64DD-48CB-998E-93905A190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146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RAG、工具调用和工作流能显著改善裸 LLM 的可靠性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3D9A0D-ABEF-4179-82DD-F202A0D95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718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6D4F09-2C65-46EF-9D4A-60D6E4DC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480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E193F2-370D-4365-A831-D019C396E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337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最适合先落地/演示的是 MDT Evidence Brief 与试验预筛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49797B-4521-47B2-BDB3-5DE6A1F40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07F671-5592-4F68-AEC5-08E95BE6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672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09C55D-70A5-4C11-8BFF-B3A626F31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529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真实临床应用必须经过验证、审计、监管与人类总控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CD843E-ABEE-4363-B64C-64F70A9DD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5785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ECACA"/>
                </a:solidFill>
              </a:defRPr>
            </a:pPr>
            <a:r>
              <a:rPr sz="1500" b="0">
                <a:solidFill>
                  <a:srgbClr val="FECACA"/>
                </a:solidFill>
              </a:rPr>
              <a:t>仅供学术研究与临床讨论辅助，不作为诊断或治疗建议。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209E51-EDF6-48D2-B58B-23C670107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448300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150" b="1">
                <a:solidFill>
                  <a:srgbClr val="36B3A8"/>
                </a:solidFill>
              </a:defRPr>
            </a:pPr>
            <a:r>
              <a:rPr sz="3150" b="1">
                <a:solidFill>
                  <a:srgbClr val="36B3A8"/>
                </a:solidFill>
              </a:rPr>
              <a:t>Q&amp;A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412FB8-7E22-476B-B75B-6FADCC0E0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8F8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B248FB-61CC-49DF-A947-49CB88B3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</a:defRPr>
            </a:pPr>
            <a:r>
              <a:rPr sz="750" b="0">
                <a:solidFill>
                  <a:srgbClr val="6B7280"/>
                </a:solidFill>
              </a:rPr>
              <a:t>Summary slide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A70CF5-0DE3-4A65-8C1F-4760A97C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65172863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EC8AE4-A302-48DE-A3E7-9A648DDA4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982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参考文献（节选）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0FA120-0599-4C05-B05A-695823EB4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48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8F8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7D216A-6C29-4EC3-87E8-D9FAC4DA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正文页底部保留关键来源；本页用于会后查阅与答疑追溯。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73B699-E1B2-457B-80A3-402E84DE1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51435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74151"/>
                </a:solidFill>
              </a:defRPr>
            </a:pPr>
            <a:r>
              <a:rPr sz="863" b="0">
                <a:solidFill>
                  <a:srgbClr val="374151"/>
                </a:solidFill>
              </a:rPr>
              <a:t>1. Nature. AI agents in oncology collection, 2025. https://www.nature.com/collections/gfhdfhadcj</a:t>
            </a:r>
          </a:p>
          <a:p xmlns:a="http://schemas.openxmlformats.org/drawingml/2006/main">
            <a:pPr algn="l">
              <a:defRPr sz="863" b="0">
                <a:solidFill>
                  <a:srgbClr val="374151"/>
                </a:solidFill>
              </a:defRPr>
            </a:pPr>
            <a:r>
              <a:rPr sz="863" b="0">
                <a:solidFill>
                  <a:srgbClr val="374151"/>
                </a:solidFill>
              </a:rPr>
              <a:t>2. Hao Y. et al. Large language model integrations in cancer decision-making. npj Digital Medicine 2025;8:450.</a:t>
            </a:r>
          </a:p>
          <a:p xmlns:a="http://schemas.openxmlformats.org/drawingml/2006/main">
            <a:pPr algn="l">
              <a:defRPr sz="863" b="0">
                <a:solidFill>
                  <a:srgbClr val="374151"/>
                </a:solidFill>
              </a:defRPr>
            </a:pPr>
            <a:r>
              <a:rPr sz="863" b="0">
                <a:solidFill>
                  <a:srgbClr val="374151"/>
                </a:solidFill>
              </a:rPr>
              <a:t>3. Kather JN group. Development and validation of an autonomous AI agent for clinical decision-making in oncology. Nature Cancer 2025.</a:t>
            </a:r>
          </a:p>
          <a:p xmlns:a="http://schemas.openxmlformats.org/drawingml/2006/main">
            <a:pPr algn="l">
              <a:defRPr sz="863" b="0">
                <a:solidFill>
                  <a:srgbClr val="374151"/>
                </a:solidFill>
              </a:defRPr>
            </a:pPr>
            <a:r>
              <a:rPr sz="863" b="0">
                <a:solidFill>
                  <a:srgbClr val="374151"/>
                </a:solidFill>
              </a:rPr>
              <a:t>4. Abdallah M. et al. TrialMatchAI. Nature Communications 2026;17:4472.</a:t>
            </a:r>
          </a:p>
          <a:p xmlns:a="http://schemas.openxmlformats.org/drawingml/2006/main">
            <a:pPr algn="l">
              <a:defRPr sz="863" b="0">
                <a:solidFill>
                  <a:srgbClr val="374151"/>
                </a:solidFill>
              </a:defRPr>
            </a:pPr>
            <a:r>
              <a:rPr sz="863" b="0">
                <a:solidFill>
                  <a:srgbClr val="374151"/>
                </a:solidFill>
              </a:rPr>
              <a:t>5. NIH/NCI. TrialGPT reduces patient screening time by 42.6%, 2024.</a:t>
            </a:r>
          </a:p>
          <a:p xmlns:a="http://schemas.openxmlformats.org/drawingml/2006/main">
            <a:pPr algn="l">
              <a:defRPr sz="863" b="0">
                <a:solidFill>
                  <a:srgbClr val="374151"/>
                </a:solidFill>
              </a:defRPr>
            </a:pPr>
            <a:r>
              <a:rPr sz="863" b="0">
                <a:solidFill>
                  <a:srgbClr val="374151"/>
                </a:solidFill>
              </a:rPr>
              <a:t>6. Benary M. et al. Leveraging Large Language Models for Decision Support in Personalized Oncology. JAMA Network Open 2023.</a:t>
            </a:r>
          </a:p>
          <a:p xmlns:a="http://schemas.openxmlformats.org/drawingml/2006/main">
            <a:pPr algn="l">
              <a:defRPr sz="863" b="0">
                <a:solidFill>
                  <a:srgbClr val="374151"/>
                </a:solidFill>
              </a:defRPr>
            </a:pPr>
            <a:r>
              <a:rPr sz="863" b="0">
                <a:solidFill>
                  <a:srgbClr val="374151"/>
                </a:solidFill>
              </a:rPr>
              <a:t>7. Bertolo R. et al. LLMs in RCC MDT decision-making. npj Precision Oncology 2025;9:257.</a:t>
            </a:r>
          </a:p>
          <a:p xmlns:a="http://schemas.openxmlformats.org/drawingml/2006/main">
            <a:pPr algn="l">
              <a:defRPr sz="863" b="0">
                <a:solidFill>
                  <a:srgbClr val="374151"/>
                </a:solidFill>
              </a:defRPr>
            </a:pPr>
            <a:r>
              <a:rPr sz="863" b="0">
                <a:solidFill>
                  <a:srgbClr val="374151"/>
                </a:solidFill>
              </a:rPr>
              <a:t>8. Xu R. et al. RAG for breast cancer nursing care responses. Scientific Reports 2024;14:30794.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30CFCA-36F0-45A2-99D1-1A4B1258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28750"/>
            <a:ext cx="51435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74151"/>
                </a:solidFill>
              </a:defRPr>
            </a:pPr>
            <a:r>
              <a:rPr sz="863" b="0">
                <a:solidFill>
                  <a:srgbClr val="374151"/>
                </a:solidFill>
              </a:rPr>
              <a:t>9. Truhn D. et al. LLMs and multimodal foundation models for precision oncology. npj Precision Oncology 2024;8:72.</a:t>
            </a:r>
          </a:p>
          <a:p xmlns:a="http://schemas.openxmlformats.org/drawingml/2006/main">
            <a:pPr algn="l">
              <a:defRPr sz="863" b="0">
                <a:solidFill>
                  <a:srgbClr val="374151"/>
                </a:solidFill>
              </a:defRPr>
            </a:pPr>
            <a:r>
              <a:rPr sz="863" b="0">
                <a:solidFill>
                  <a:srgbClr val="374151"/>
                </a:solidFill>
              </a:rPr>
              <a:t>10. Mathes S. et al. Responsible AI in LLM-driven CDSS for precision oncology. npj Precision Oncology 2026;10:15.</a:t>
            </a:r>
          </a:p>
          <a:p xmlns:a="http://schemas.openxmlformats.org/drawingml/2006/main">
            <a:pPr algn="l">
              <a:defRPr sz="863" b="0">
                <a:solidFill>
                  <a:srgbClr val="374151"/>
                </a:solidFill>
              </a:defRPr>
            </a:pPr>
            <a:r>
              <a:rPr sz="863" b="0">
                <a:solidFill>
                  <a:srgbClr val="374151"/>
                </a:solidFill>
              </a:rPr>
              <a:t>11. Zakka C. et al. Almanac: retrieval-augmented language models for clinical medicine. NEJM AI 2024.</a:t>
            </a:r>
          </a:p>
          <a:p xmlns:a="http://schemas.openxmlformats.org/drawingml/2006/main">
            <a:pPr algn="l">
              <a:defRPr sz="863" b="0">
                <a:solidFill>
                  <a:srgbClr val="374151"/>
                </a:solidFill>
              </a:defRPr>
            </a:pPr>
            <a:r>
              <a:rPr sz="863" b="0">
                <a:solidFill>
                  <a:srgbClr val="374151"/>
                </a:solidFill>
              </a:rPr>
              <a:t>12. Ferber D. et al. GPT-4 for retrieval and comparison of medical oncology guidelines. NEJM AI 2024.</a:t>
            </a:r>
          </a:p>
          <a:p xmlns:a="http://schemas.openxmlformats.org/drawingml/2006/main">
            <a:pPr algn="l">
              <a:defRPr sz="863" b="0">
                <a:solidFill>
                  <a:srgbClr val="374151"/>
                </a:solidFill>
              </a:defRPr>
            </a:pPr>
            <a:r>
              <a:rPr sz="863" b="0">
                <a:solidFill>
                  <a:srgbClr val="374151"/>
                </a:solidFill>
              </a:rPr>
              <a:t>13. WHO. Ethics and governance of AI for health: guidance on large multi-modal models, 2025.</a:t>
            </a:r>
          </a:p>
          <a:p xmlns:a="http://schemas.openxmlformats.org/drawingml/2006/main">
            <a:pPr algn="l">
              <a:defRPr sz="863" b="0">
                <a:solidFill>
                  <a:srgbClr val="374151"/>
                </a:solidFill>
              </a:defRPr>
            </a:pPr>
            <a:r>
              <a:rPr sz="863" b="0">
                <a:solidFill>
                  <a:srgbClr val="374151"/>
                </a:solidFill>
              </a:rPr>
              <a:t>14. FDA. Artificial Intelligence in Software as a Medical Device, content current 2025.</a:t>
            </a:r>
          </a:p>
          <a:p xmlns:a="http://schemas.openxmlformats.org/drawingml/2006/main">
            <a:pPr algn="l">
              <a:defRPr sz="863" b="0">
                <a:solidFill>
                  <a:srgbClr val="374151"/>
                </a:solidFill>
              </a:defRPr>
            </a:pPr>
            <a:r>
              <a:rPr sz="863" b="0">
                <a:solidFill>
                  <a:srgbClr val="374151"/>
                </a:solidFill>
              </a:rPr>
              <a:t>15. MSK. OncoKB precision oncology knowledge base; ClinicalTrials.gov API v2.0, NLM 2024.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72892C-7586-426D-8AAC-677B39561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753100"/>
            <a:ext cx="9429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E7D5BE-F577-4674-BF80-7A4FDB442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848350"/>
            <a:ext cx="895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资料截至 2026-07-04；具体临床使用需核对最新指南、药品说明书与本地监管要求。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57197F-8468-4174-950B-BD52B348B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8F8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77CBFB-660E-4D3B-B7B8-52CA1EC23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</a:defRPr>
            </a:pPr>
            <a:r>
              <a:rPr sz="750" b="0">
                <a:solidFill>
                  <a:srgbClr val="6B7280"/>
                </a:solidFill>
              </a:rPr>
              <a:t>Selected references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92903E-2EE3-4CD6-84F3-23838CE58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815547145"/>
      </p:ext>
    </p:extLst>
  </p:cSld>
</p:sld>
</file>

<file path=ppt/theme/theme1.xml><?xml version="1.0" encoding="utf-8"?>
<a:theme xmlns:a="http://schemas.openxmlformats.org/drawingml/2006/main" name="ChatGPT">
  <a:themeElements>
    <a:clrScheme name="Academic Oncology Agent">
      <a:dk1>
        <a:srgbClr val="000000"/>
      </a:dk1>
      <a:lt1>
        <a:srgbClr val="FFFFFF"/>
      </a:lt1>
      <a:dk2>
        <a:srgbClr val="0B1F3A"/>
      </a:dk2>
      <a:lt2>
        <a:srgbClr val="E5E7EB"/>
      </a:lt2>
      <a:accent1>
        <a:srgbClr val="0B1F3A"/>
      </a:accent1>
      <a:accent2>
        <a:srgbClr val="0E8F8A"/>
      </a:accent2>
      <a:accent3>
        <a:srgbClr val="B7791F"/>
      </a:accent3>
      <a:accent4>
        <a:srgbClr val="A33A3A"/>
      </a:accent4>
      <a:accent5>
        <a:srgbClr val="5B5F97"/>
      </a:accent5>
      <a:accent6>
        <a:srgbClr val="2F855A"/>
      </a:accent6>
      <a:hlink>
        <a:srgbClr val="0E8F8A"/>
      </a:hlink>
      <a:folHlink>
        <a:srgbClr val="5B5F97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cademic Oncology Agen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2026-07-05T08:06:00.7990000Z</dcterms:created>
  <dcterms:modified xsi:type="dcterms:W3CDTF">2026-07-05T08:06:00.8000000Z</dcterms:modified>
</coreProperties>
</file>